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2.xml" ContentType="application/vnd.openxmlformats-officedocument.presentationml.slideLayout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3.xml" ContentType="application/vnd.openxmlformats-officedocument.presentationml.slideLayout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4.xml" ContentType="application/vnd.openxmlformats-officedocument.presentationml.slideLayou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5.xml" ContentType="application/vnd.openxmlformats-officedocument.presentationml.slideLayou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6.xml" ContentType="application/vnd.openxmlformats-officedocument.presentationml.slideLayout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7.xml" ContentType="application/vnd.openxmlformats-officedocument.presentationml.slideLayout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slideLayouts/slideLayout8.xml" ContentType="application/vnd.openxmlformats-officedocument.presentationml.slideLayout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slideLayouts/slideLayout9.xml" ContentType="application/vnd.openxmlformats-officedocument.presentationml.slideLayout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slideLayouts/slideLayout10.xml" ContentType="application/vnd.openxmlformats-officedocument.presentationml.slideLayout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slideLayouts/slideLayout11.xml" ContentType="application/vnd.openxmlformats-officedocument.presentationml.slideLayout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slideLayouts/slideLayout12.xml" ContentType="application/vnd.openxmlformats-officedocument.presentationml.slideLayou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3.xml" ContentType="application/vnd.openxmlformats-officedocument.presentationml.slideLayout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4.xml" ContentType="application/vnd.openxmlformats-officedocument.presentationml.slideLayout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slideLayouts/slideLayout15.xml" ContentType="application/vnd.openxmlformats-officedocument.presentationml.slideLayout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slideLayouts/slideLayout16.xml" ContentType="application/vnd.openxmlformats-officedocument.presentationml.slideLayout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slideLayouts/slideLayout17.xml" ContentType="application/vnd.openxmlformats-officedocument.presentationml.slideLayout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slideLayouts/slideLayout18.xml" ContentType="application/vnd.openxmlformats-officedocument.presentationml.slideLayout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slideLayouts/slideLayout19.xml" ContentType="application/vnd.openxmlformats-officedocument.presentationml.slideLayout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slideLayouts/slideLayout20.xml" ContentType="application/vnd.openxmlformats-officedocument.presentationml.slideLayout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slideLayouts/slideLayout21.xml" ContentType="application/vnd.openxmlformats-officedocument.presentationml.slideLayout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slideLayouts/slideLayout22.xml" ContentType="application/vnd.openxmlformats-officedocument.presentationml.slideLayout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slideLayouts/slideLayout23.xml" ContentType="application/vnd.openxmlformats-officedocument.presentationml.slideLayout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slideLayouts/slideLayout24.xml" ContentType="application/vnd.openxmlformats-officedocument.presentationml.slideLayout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slideLayouts/slideLayout25.xml" ContentType="application/vnd.openxmlformats-officedocument.presentationml.slideLayout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slideLayouts/slideLayout26.xml" ContentType="application/vnd.openxmlformats-officedocument.presentationml.slideLayout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tags/tag139.xml" ContentType="application/vnd.openxmlformats-officedocument.presentationml.tags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  <p:sldMasterId id="2147483649" r:id="rId2"/>
  </p:sldMasterIdLst>
  <p:notesMasterIdLst>
    <p:notesMasterId r:id="rId3"/>
  </p:notesMasterIdLst>
  <p:sldIdLst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7" r:id="rId36"/>
    <p:sldId id="298" r:id="rId37"/>
    <p:sldId id="299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10" r:id="rId47"/>
    <p:sldId id="311" r:id="rId48"/>
    <p:sldId id="312" r:id="rId49"/>
    <p:sldId id="313" r:id="rId50"/>
    <p:sldId id="314" r:id="rId51"/>
    <p:sldId id="315" r:id="rId52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FFFFFF"/>
    <a:srgbClr val="DCDCDC"/>
    <a:srgbClr val="F0F0F0"/>
    <a:srgbClr val="E6E6E6"/>
    <a:srgbClr val="C8C8C8"/>
    <a:srgbClr val="FAFAFA"/>
    <a:srgbClr val="BEBEB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3778" autoAdjust="0"/>
    <p:restoredTop sz="94660"/>
  </p:normalViewPr>
  <p:slideViewPr>
    <p:cSldViewPr showGuides="1">
      <p:cViewPr varScale="1">
        <p:scale>
          <a:sx n="99" d="100"/>
          <a:sy n="99" d="100"/>
        </p:scale>
        <p:origin x="84" y="582"/>
      </p:cViewPr>
      <p:guideLst>
        <p:guide orient="horz" pos="2125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</p:cSldViewPr>
  </p:notesViewPr>
  <p:gridSpacing cx="72000" cy="720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tableStyles" Target="tableStyle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868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D2A48B96-639E-45A3-A0BA-2464DFDB1FA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69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870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871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872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A6837353-30EB-4A48-80EB-173D804AEFBD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1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/>
      </p:grpSpPr>
      <p:sp>
        <p:nvSpPr>
          <p:cNvPr id="1048648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1048649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altLang="en-US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tags" Target="../tags/tag10.xml"/><Relationship Id="rId6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tags" Target="../tags/tag13.xml"/><Relationship Id="rId4" Type="http://schemas.openxmlformats.org/officeDocument/2006/relationships/tags" Target="../tags/tag14.xml"/><Relationship Id="rId5" Type="http://schemas.openxmlformats.org/officeDocument/2006/relationships/tags" Target="../tags/tag15.xml"/><Relationship Id="rId6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tags" Target="../tags/tag28.xml"/><Relationship Id="rId8" Type="http://schemas.openxmlformats.org/officeDocument/2006/relationships/tags" Target="../tags/tag29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tags" Target="../tags/tag54.xml"/><Relationship Id="rId4" Type="http://schemas.openxmlformats.org/officeDocument/2006/relationships/tags" Target="../tags/tag55.xml"/><Relationship Id="rId5" Type="http://schemas.openxmlformats.org/officeDocument/2006/relationships/tags" Target="../tags/tag56.xml"/><Relationship Id="rId6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tags" Target="../tags/tag58.xml"/><Relationship Id="rId3" Type="http://schemas.openxmlformats.org/officeDocument/2006/relationships/tags" Target="../tags/tag59.xml"/><Relationship Id="rId4" Type="http://schemas.openxmlformats.org/officeDocument/2006/relationships/tags" Target="../tags/tag60.xml"/><Relationship Id="rId5" Type="http://schemas.openxmlformats.org/officeDocument/2006/relationships/tags" Target="../tags/tag61.xml"/><Relationship Id="rId6" Type="http://schemas.openxmlformats.org/officeDocument/2006/relationships/tags" Target="../tags/tag62.xml"/><Relationship Id="rId7" Type="http://schemas.openxmlformats.org/officeDocument/2006/relationships/tags" Target="../tags/tag63.xml"/><Relationship Id="rId8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tags" Target="../tags/tag71.xml"/><Relationship Id="rId3" Type="http://schemas.openxmlformats.org/officeDocument/2006/relationships/tags" Target="../tags/tag72.xml"/><Relationship Id="rId4" Type="http://schemas.openxmlformats.org/officeDocument/2006/relationships/tags" Target="../tags/tag73.xml"/><Relationship Id="rId5" Type="http://schemas.openxmlformats.org/officeDocument/2006/relationships/tags" Target="../tags/tag74.xml"/><Relationship Id="rId6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tags" Target="../tags/tag82.xml"/><Relationship Id="rId4" Type="http://schemas.openxmlformats.org/officeDocument/2006/relationships/tags" Target="../tags/tag83.xml"/><Relationship Id="rId5" Type="http://schemas.openxmlformats.org/officeDocument/2006/relationships/tags" Target="../tags/tag84.xml"/><Relationship Id="rId6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tags" Target="../tags/tag91.xml"/><Relationship Id="rId2" Type="http://schemas.openxmlformats.org/officeDocument/2006/relationships/tags" Target="../tags/tag92.xml"/><Relationship Id="rId3" Type="http://schemas.openxmlformats.org/officeDocument/2006/relationships/tags" Target="../tags/tag93.xml"/><Relationship Id="rId4" Type="http://schemas.openxmlformats.org/officeDocument/2006/relationships/tags" Target="../tags/tag94.xml"/><Relationship Id="rId5" Type="http://schemas.openxmlformats.org/officeDocument/2006/relationships/tags" Target="../tags/tag95.xml"/><Relationship Id="rId6" Type="http://schemas.openxmlformats.org/officeDocument/2006/relationships/tags" Target="../tags/tag96.xml"/><Relationship Id="rId7" Type="http://schemas.openxmlformats.org/officeDocument/2006/relationships/tags" Target="../tags/tag97.xml"/><Relationship Id="rId8" Type="http://schemas.openxmlformats.org/officeDocument/2006/relationships/tags" Target="../tags/tag98.xml"/><Relationship Id="rId9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tags" Target="../tags/tag103.xml"/><Relationship Id="rId2" Type="http://schemas.openxmlformats.org/officeDocument/2006/relationships/tags" Target="../tags/tag104.xml"/><Relationship Id="rId3" Type="http://schemas.openxmlformats.org/officeDocument/2006/relationships/tags" Target="../tags/tag105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tags" Target="../tags/tag107.xml"/><Relationship Id="rId3" Type="http://schemas.openxmlformats.org/officeDocument/2006/relationships/tags" Target="../tags/tag108.xml"/><Relationship Id="rId4" Type="http://schemas.openxmlformats.org/officeDocument/2006/relationships/tags" Target="../tags/tag109.xml"/><Relationship Id="rId5" Type="http://schemas.openxmlformats.org/officeDocument/2006/relationships/tags" Target="../tags/tag110.xml"/><Relationship Id="rId6" Type="http://schemas.openxmlformats.org/officeDocument/2006/relationships/tags" Target="../tags/tag111.xml"/><Relationship Id="rId7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tags" Target="../tags/tag112.xml"/><Relationship Id="rId2" Type="http://schemas.openxmlformats.org/officeDocument/2006/relationships/tags" Target="../tags/tag113.xml"/><Relationship Id="rId3" Type="http://schemas.openxmlformats.org/officeDocument/2006/relationships/tags" Target="../tags/tag114.xml"/><Relationship Id="rId4" Type="http://schemas.openxmlformats.org/officeDocument/2006/relationships/tags" Target="../tags/tag115.xml"/><Relationship Id="rId5" Type="http://schemas.openxmlformats.org/officeDocument/2006/relationships/tags" Target="../tags/tag116.xml"/><Relationship Id="rId6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tags" Target="../tags/tag126.xml"/><Relationship Id="rId2" Type="http://schemas.openxmlformats.org/officeDocument/2006/relationships/tags" Target="../tags/tag127.xml"/><Relationship Id="rId3" Type="http://schemas.openxmlformats.org/officeDocument/2006/relationships/tags" Target="../tags/tag128.xml"/><Relationship Id="rId4" Type="http://schemas.openxmlformats.org/officeDocument/2006/relationships/tags" Target="../tags/tag129.xml"/><Relationship Id="rId5" Type="http://schemas.openxmlformats.org/officeDocument/2006/relationships/tags" Target="../tags/tag130.xml"/><Relationship Id="rId6" Type="http://schemas.openxmlformats.org/officeDocument/2006/relationships/tags" Target="../tags/tag131.xml"/><Relationship Id="rId7" Type="http://schemas.openxmlformats.org/officeDocument/2006/relationships/tags" Target="../tags/tag132.xml"/><Relationship Id="rId8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anchor="b" anchorCtr="0" bIns="46800" lIns="90000" rIns="90000" tIns="46800">
            <a:normAutofit/>
          </a:bodyPr>
          <a:lstStyle>
            <a:lvl1pPr algn="ctr">
              <a:defRPr sz="6000"/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811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bIns="46800" lIns="90000" rIns="90000" tIns="46800">
            <a:normAutofit/>
          </a:bodyPr>
          <a:lstStyle>
            <a:lvl1pPr algn="ctr" indent="0" marL="0">
              <a:lnSpc>
                <a:spcPct val="110000"/>
              </a:lnSpc>
              <a:buNone/>
              <a:defRPr sz="2400" spc="2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dirty="0" lang="zh-CN"/>
              <a:t>单击此处编辑母版副标题样式</a:t>
            </a:r>
            <a:endParaRPr altLang="en-US" dirty="0" lang="zh-CN"/>
          </a:p>
        </p:txBody>
      </p:sp>
      <p:sp>
        <p:nvSpPr>
          <p:cNvPr id="1048812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13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814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anchor="ctr" anchorCtr="0"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9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anchor="b" anchorCtr="0" bIns="46800" lIns="90000" rIns="90000" tIns="46800">
            <a:normAutofit/>
          </a:bodyPr>
          <a:lstStyle>
            <a:lvl1pPr>
              <a:defRPr sz="4400"/>
            </a:lvl1pPr>
          </a:lstStyle>
          <a:p>
            <a:r>
              <a:rPr altLang="en-US" dirty="0" lang="zh-CN"/>
              <a:t>单击此处编辑标题</a:t>
            </a:r>
            <a:endParaRPr altLang="en-US" dirty="0" lang="zh-CN"/>
          </a:p>
        </p:txBody>
      </p:sp>
      <p:sp>
        <p:nvSpPr>
          <p:cNvPr id="1048830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bIns="46800" lIns="90000" rIns="90000" tIns="46800">
            <a:normAutofit/>
          </a:bodyPr>
          <a:lstStyle>
            <a:lvl1pPr indent="0" marL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marL="457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dirty="0" lang="zh-CN"/>
              <a:t>单击此处编辑文本</a:t>
            </a:r>
            <a:endParaRPr altLang="en-US" dirty="0" lang="zh-CN"/>
          </a:p>
        </p:txBody>
      </p:sp>
      <p:sp>
        <p:nvSpPr>
          <p:cNvPr id="1048831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32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33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anchor="ctr" anchorCtr="0"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856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857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bIns="46800" lIns="90000" rIns="90000" tIns="46800">
            <a:norm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858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59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60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anchor="ctr" anchorCtr="0"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835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anchor="t" anchorCtr="0" bIns="38100" lIns="101600" rIns="76200" tIns="38100">
            <a:normAutofit/>
          </a:bodyPr>
          <a:lstStyle>
            <a:lvl1pPr indent="0" marL="0">
              <a:lnSpc>
                <a:spcPct val="100000"/>
              </a:lnSpc>
              <a:buNone/>
              <a:defRPr b="1" sz="2000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dirty="0" lang="zh-CN"/>
              <a:t>单击此处编辑文本</a:t>
            </a:r>
            <a:endParaRPr altLang="en-US" dirty="0" lang="zh-CN"/>
          </a:p>
        </p:txBody>
      </p:sp>
      <p:sp>
        <p:nvSpPr>
          <p:cNvPr id="1048836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bIns="0" lIns="101600" rIns="82550" rtlCol="0" tIns="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837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anchor="t" anchorCtr="0" bIns="38100" lIns="101600" rIns="76200" rtlCol="0" tIns="38100" vert="horz">
            <a:normAutofit/>
          </a:bodyPr>
          <a:lstStyle>
            <a:lvl1pPr indent="0" marL="0">
              <a:lnSpc>
                <a:spcPct val="100000"/>
              </a:lnSpc>
              <a:buNone/>
              <a:defRPr b="1" sz="2000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单击此处编辑文本</a:t>
            </a:r>
            <a:endParaRPr altLang="en-US" lang="zh-CN"/>
          </a:p>
        </p:txBody>
      </p:sp>
      <p:sp>
        <p:nvSpPr>
          <p:cNvPr id="1048838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bIns="0" lIns="101600" rIns="82550" rtlCol="0" tIns="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839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40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41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anchor="ctr" anchorCtr="0"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816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17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18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4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4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1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bIns="46800" lIns="90000" rIns="90000" rtlCol="0" tIns="46800" vert="horz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altLang="en-US" lang="zh-CN"/>
          </a:p>
        </p:txBody>
      </p:sp>
      <p:sp>
        <p:nvSpPr>
          <p:cNvPr id="1048862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bIns="46800" lIns="90000" rIns="90000" rtlCol="0" tIns="46800" vert="horz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/>
          </a:p>
        </p:txBody>
      </p:sp>
      <p:sp>
        <p:nvSpPr>
          <p:cNvPr id="1048863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9EFD9D74-47D9-4702-A33C-335B63B48DBF}" type="datetimeFigureOut">
              <a:rPr altLang="en-US" lang="zh-CN" smtClean="0"/>
            </a:fld>
            <a:endParaRPr altLang="en-US" dirty="0" lang="zh-CN"/>
          </a:p>
        </p:txBody>
      </p:sp>
      <p:sp>
        <p:nvSpPr>
          <p:cNvPr id="1048864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865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FABC47A4-756D-490B-A52F-7D9E2C9FC05F}" type="slidenum">
              <a:rPr altLang="en-US" lang="zh-CN" smtClean="0"/>
            </a:fld>
            <a:endParaRPr altLang="en-US" lang="zh-CN"/>
          </a:p>
        </p:txBody>
      </p:sp>
      <p:sp>
        <p:nvSpPr>
          <p:cNvPr id="1048866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排标题与文本"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anchor="ctr" anchorCtr="0" bIns="46800" lIns="90000" rIns="90000" rtlCol="0" tIns="46800" vert="eaVert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altLang="en-US" lang="zh-CN" smtClean="0"/>
              <a:t>单击此处编辑标题</a:t>
            </a:r>
            <a:endParaRPr altLang="en-US" lang="zh-CN"/>
          </a:p>
        </p:txBody>
      </p:sp>
      <p:sp>
        <p:nvSpPr>
          <p:cNvPr id="1048825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bIns="46800" lIns="46800" rIns="46800" tIns="46800" vert="eaVert"/>
          <a:lstStyle>
            <a:lvl1pPr indent="-228600" marL="228600">
              <a:spcAft>
                <a:spcPts val="1000"/>
              </a:spcAft>
              <a:defRPr spc="300"/>
            </a:lvl1pPr>
            <a:lvl2pPr indent="-228600" marL="685800">
              <a:defRPr spc="300"/>
            </a:lvl2pPr>
            <a:lvl3pPr indent="-228600" marL="1143000">
              <a:defRPr spc="300"/>
            </a:lvl3pPr>
            <a:lvl4pPr indent="-228600" marL="1600200">
              <a:defRPr spc="300"/>
            </a:lvl4pPr>
            <a:lvl5pPr indent="-228600" marL="2057400">
              <a:defRPr spc="300"/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826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27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28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52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53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54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20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21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82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anchor="t" anchorCtr="0" bIns="46800" lIns="90000" rIns="90000" rtlCol="0" tIns="46800" vert="horz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altLang="en-US" lang="zh-CN" smtClean="0"/>
              <a:t>单击此处编辑标题</a:t>
            </a:r>
            <a:endParaRPr altLang="en-US" lang="zh-CN"/>
          </a:p>
        </p:txBody>
      </p:sp>
      <p:sp>
        <p:nvSpPr>
          <p:cNvPr id="1048823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bIns="46800" lIns="90000" rIns="90000" t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组合 7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048845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  <p:sp>
          <p:nvSpPr>
            <p:cNvPr id="1048846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</p:grpSp>
      <p:sp>
        <p:nvSpPr>
          <p:cNvPr id="1048847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baseline="0" b="1" sz="220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altLang="en-US" lang="zh-CN"/>
              <a:t>单击此处添加标题</a:t>
            </a:r>
            <a:endParaRPr altLang="en-US" dirty="0" lang="zh-CN"/>
          </a:p>
        </p:txBody>
      </p:sp>
      <p:sp>
        <p:nvSpPr>
          <p:cNvPr id="1048848" name="日期占位符 2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49" name="页脚占位符 3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altLang="en-US" dirty="0" lang="zh-CN"/>
          </a:p>
        </p:txBody>
      </p:sp>
      <p:sp>
        <p:nvSpPr>
          <p:cNvPr id="1048850" name="灯片编号占位符 4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anchor="b" anchorCtr="0" bIns="46800" lIns="90000" rIns="90000" tIns="46800">
            <a:normAutofit/>
          </a:bodyPr>
          <a:lstStyle>
            <a:lvl1pPr algn="ctr">
              <a:defRPr sz="6000"/>
            </a:lvl1pPr>
          </a:lstStyle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801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bIns="46800" lIns="90000" rIns="90000" tIns="46800">
            <a:normAutofit/>
          </a:bodyPr>
          <a:lstStyle>
            <a:lvl1pPr algn="ctr" indent="0" marL="0">
              <a:lnSpc>
                <a:spcPct val="110000"/>
              </a:lnSpc>
              <a:buNone/>
              <a:defRPr sz="2400" spc="2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dirty="0" lang="zh-CN"/>
              <a:t>单击此处编辑母版副标题样式</a:t>
            </a:r>
            <a:endParaRPr altLang="en-US" dirty="0" lang="zh-CN"/>
          </a:p>
        </p:txBody>
      </p:sp>
      <p:sp>
        <p:nvSpPr>
          <p:cNvPr id="1048802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03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804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anchor="ctr" anchorCtr="0"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77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77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7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7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anchor="b" anchorCtr="0" bIns="46800" lIns="90000" rIns="90000" tIns="46800">
            <a:normAutofit/>
          </a:bodyPr>
          <a:lstStyle>
            <a:lvl1pPr>
              <a:defRPr sz="4400"/>
            </a:lvl1pPr>
          </a:lstStyle>
          <a:p>
            <a:r>
              <a:rPr altLang="en-US" dirty="0" lang="zh-CN"/>
              <a:t>单击此处编辑标题</a:t>
            </a:r>
            <a:endParaRPr altLang="en-US" dirty="0" lang="zh-CN"/>
          </a:p>
        </p:txBody>
      </p:sp>
      <p:sp>
        <p:nvSpPr>
          <p:cNvPr id="1048806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bIns="46800" lIns="90000" rIns="90000" tIns="46800">
            <a:normAutofit/>
          </a:bodyPr>
          <a:lstStyle>
            <a:lvl1pPr indent="0" marL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marL="457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dirty="0" lang="zh-CN"/>
              <a:t>单击此处编辑文本</a:t>
            </a:r>
            <a:endParaRPr altLang="en-US" dirty="0" lang="zh-CN"/>
          </a:p>
        </p:txBody>
      </p:sp>
      <p:sp>
        <p:nvSpPr>
          <p:cNvPr id="104880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80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0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1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anchor="ctr" anchorCtr="0"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782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783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bIns="46800" lIns="90000" rIns="90000" tIns="46800">
            <a:norm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8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8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8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anchor="ctr" anchorCtr="0"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749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anchor="t" anchorCtr="0" bIns="38100" lIns="101600" rIns="76200" tIns="38100">
            <a:normAutofit/>
          </a:bodyPr>
          <a:lstStyle>
            <a:lvl1pPr indent="0" marL="0">
              <a:lnSpc>
                <a:spcPct val="100000"/>
              </a:lnSpc>
              <a:buNone/>
              <a:defRPr b="1" sz="2000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dirty="0" lang="zh-CN"/>
              <a:t>单击此处编辑文本</a:t>
            </a:r>
            <a:endParaRPr altLang="en-US" dirty="0" lang="zh-CN"/>
          </a:p>
        </p:txBody>
      </p:sp>
      <p:sp>
        <p:nvSpPr>
          <p:cNvPr id="1048750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bIns="0" lIns="101600" rIns="82550" rtlCol="0" tIns="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751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anchor="t" anchorCtr="0" bIns="38100" lIns="101600" rIns="76200" rtlCol="0" tIns="38100" vert="horz">
            <a:normAutofit/>
          </a:bodyPr>
          <a:lstStyle>
            <a:lvl1pPr indent="0" marL="0">
              <a:lnSpc>
                <a:spcPct val="100000"/>
              </a:lnSpc>
              <a:buNone/>
              <a:defRPr b="1" sz="2000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单击此处编辑文本</a:t>
            </a:r>
            <a:endParaRPr altLang="en-US" lang="zh-CN"/>
          </a:p>
        </p:txBody>
      </p:sp>
      <p:sp>
        <p:nvSpPr>
          <p:cNvPr id="1048752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bIns="0" lIns="101600" rIns="82550" rtlCol="0" tIns="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753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54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55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anchor="ctr" anchorCtr="0" bIns="46800" lIns="90000" rIns="90000" rtlCol="0" tIns="46800" vert="horz">
            <a:normAutofit/>
          </a:bodyPr>
          <a:p>
            <a:pPr lvl="0"/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778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79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80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98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99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bIns="46800" lIns="90000" rIns="90000" rtlCol="0" tIns="46800" vert="horz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altLang="en-US" lang="zh-CN"/>
          </a:p>
        </p:txBody>
      </p:sp>
      <p:sp>
        <p:nvSpPr>
          <p:cNvPr id="1048762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bIns="46800" lIns="90000" rIns="90000" rtlCol="0" tIns="46800" vert="horz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/>
          </a:p>
        </p:txBody>
      </p:sp>
      <p:sp>
        <p:nvSpPr>
          <p:cNvPr id="1048763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9EFD9D74-47D9-4702-A33C-335B63B48DBF}" type="datetimeFigureOut">
              <a:rPr altLang="en-US" lang="zh-CN" smtClean="0"/>
            </a:fld>
            <a:endParaRPr altLang="en-US" dirty="0" lang="zh-CN"/>
          </a:p>
        </p:txBody>
      </p:sp>
      <p:sp>
        <p:nvSpPr>
          <p:cNvPr id="1048764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dirty="0" lang="zh-CN"/>
          </a:p>
        </p:txBody>
      </p:sp>
      <p:sp>
        <p:nvSpPr>
          <p:cNvPr id="1048765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FABC47A4-756D-490B-A52F-7D9E2C9FC05F}" type="slidenum">
              <a:rPr altLang="en-US" lang="zh-CN" smtClean="0"/>
            </a:fld>
            <a:endParaRPr altLang="en-US" lang="zh-CN"/>
          </a:p>
        </p:txBody>
      </p:sp>
      <p:sp>
        <p:nvSpPr>
          <p:cNvPr id="1048766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altLang="en-US"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排标题与文本"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anchor="ctr" anchorCtr="0" bIns="46800" lIns="90000" rIns="90000" rtlCol="0" tIns="46800" vert="eaVert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altLang="en-US" lang="zh-CN" smtClean="0"/>
              <a:t>单击此处编辑标题</a:t>
            </a:r>
            <a:endParaRPr altLang="en-US" lang="zh-CN"/>
          </a:p>
        </p:txBody>
      </p:sp>
      <p:sp>
        <p:nvSpPr>
          <p:cNvPr id="1048768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bIns="46800" lIns="46800" rIns="46800" tIns="46800" vert="eaVert"/>
          <a:lstStyle>
            <a:lvl1pPr indent="-228600" marL="228600">
              <a:spcAft>
                <a:spcPts val="1000"/>
              </a:spcAft>
              <a:defRPr spc="300"/>
            </a:lvl1pPr>
            <a:lvl2pPr indent="-228600" marL="685800">
              <a:defRPr spc="300"/>
            </a:lvl2pPr>
            <a:lvl3pPr indent="-228600" marL="1143000">
              <a:defRPr spc="300"/>
            </a:lvl3pPr>
            <a:lvl4pPr indent="-228600" marL="1600200">
              <a:defRPr spc="300"/>
            </a:lvl4pPr>
            <a:lvl5pPr indent="-228600" marL="2057400">
              <a:defRPr spc="300"/>
            </a:lvl5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769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70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71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9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9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96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57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58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49AE70B2-8BF9-45C0-BB95-33D1B9D3A854}" type="slidenum">
              <a:rPr altLang="en-US" lang="zh-CN" smtClean="0"/>
            </a:fld>
            <a:endParaRPr altLang="en-US" lang="zh-CN"/>
          </a:p>
        </p:txBody>
      </p:sp>
      <p:sp>
        <p:nvSpPr>
          <p:cNvPr id="1048759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anchor="t" anchorCtr="0" bIns="46800" lIns="90000" rIns="90000" rtlCol="0" tIns="46800" vert="horz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altLang="en-US" lang="zh-CN" smtClean="0"/>
              <a:t>单击此处编辑标题</a:t>
            </a:r>
            <a:endParaRPr altLang="en-US" lang="zh-CN"/>
          </a:p>
        </p:txBody>
      </p:sp>
      <p:sp>
        <p:nvSpPr>
          <p:cNvPr id="1048760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bIns="46800" lIns="90000" rIns="90000" t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组合 7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048787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  <p:sp>
          <p:nvSpPr>
            <p:cNvPr id="1048788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</p:grpSp>
      <p:sp>
        <p:nvSpPr>
          <p:cNvPr id="1048789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baseline="0" b="1" sz="220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altLang="en-US" lang="zh-CN"/>
              <a:t>单击此处添加标题</a:t>
            </a:r>
            <a:endParaRPr altLang="en-US" dirty="0" lang="zh-CN"/>
          </a:p>
        </p:txBody>
      </p:sp>
      <p:sp>
        <p:nvSpPr>
          <p:cNvPr id="1048790" name="日期占位符 2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791" name="页脚占位符 3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altLang="en-US" dirty="0" lang="zh-CN"/>
          </a:p>
        </p:txBody>
      </p:sp>
      <p:sp>
        <p:nvSpPr>
          <p:cNvPr id="1048792" name="灯片编号占位符 4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ags" Target="../tags/tag64.xml"/><Relationship Id="rId15" Type="http://schemas.openxmlformats.org/officeDocument/2006/relationships/tags" Target="../tags/tag65.xml"/><Relationship Id="rId16" Type="http://schemas.openxmlformats.org/officeDocument/2006/relationships/tags" Target="../tags/tag66.xml"/><Relationship Id="rId17" Type="http://schemas.openxmlformats.org/officeDocument/2006/relationships/tags" Target="../tags/tag67.xml"/><Relationship Id="rId18" Type="http://schemas.openxmlformats.org/officeDocument/2006/relationships/tags" Target="../tags/tag68.xml"/><Relationship Id="rId19" Type="http://schemas.openxmlformats.org/officeDocument/2006/relationships/tags" Target="../tags/tag69.xml"/><Relationship Id="rId20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tags" Target="../tags/tag133.xml"/><Relationship Id="rId15" Type="http://schemas.openxmlformats.org/officeDocument/2006/relationships/tags" Target="../tags/tag134.xml"/><Relationship Id="rId16" Type="http://schemas.openxmlformats.org/officeDocument/2006/relationships/tags" Target="../tags/tag135.xml"/><Relationship Id="rId17" Type="http://schemas.openxmlformats.org/officeDocument/2006/relationships/tags" Target="../tags/tag136.xml"/><Relationship Id="rId18" Type="http://schemas.openxmlformats.org/officeDocument/2006/relationships/tags" Target="../tags/tag137.xml"/><Relationship Id="rId19" Type="http://schemas.openxmlformats.org/officeDocument/2006/relationships/tags" Target="../tags/tag138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/>
        </p:spPr>
        <p:txBody>
          <a:bodyPr anchor="ctr" anchorCtr="0" bIns="46990" lIns="90170" rIns="90170" rtlCol="0" tIns="46990" vert="horz">
            <a:normAutofit/>
          </a:bodyPr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/>
        </p:spPr>
        <p:txBody>
          <a:bodyPr bIns="46800" lIns="90000" rIns="90000" rtlCol="0" tIns="46800" vert="horz">
            <a:norm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baseline="0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baseline="0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dirty="0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baseline="0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  <p:custDataLst>
      <p:tags r:id="rId19"/>
    </p:custDataLst>
  </p:cSld>
  <p:clrMap accent1="accent1" accent2="accent2" accent3="accent3" accent4="accent4" accent5="accent5" accent6="accent6" bg1="lt1" bg2="lt2" tx1="dk1" tx2="dk2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l" defTabSz="914400" eaLnBrk="1" fontAlgn="auto" hangingPunct="1" latinLnBrk="0" rtl="0">
        <a:lnSpc>
          <a:spcPct val="100000"/>
        </a:lnSpc>
        <a:spcBef>
          <a:spcPct val="0"/>
        </a:spcBef>
        <a:buNone/>
        <a:defRPr baseline="0" b="0" cap="none" sz="3600" kern="1200" normalizeH="0" spc="300" strike="noStrike" u="none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algn="l" defTabSz="914400" eaLnBrk="1" fontAlgn="auto" hangingPunct="1" indent="-228600" latinLnBrk="0" marL="2286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baseline="0" cap="none" sz="18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algn="l" defTabSz="914400" eaLnBrk="1" fontAlgn="auto" hangingPunct="1" indent="-228600" latinLnBrk="0" marL="6858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algn="l" pos="1609725"/>
          <a:tab algn="l" pos="1609725"/>
          <a:tab algn="l" pos="1609725"/>
          <a:tab algn="l" pos="1609725"/>
        </a:tabLst>
        <a:defRPr baseline="0" cap="none" sz="16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algn="l" defTabSz="914400" eaLnBrk="1" fontAlgn="auto" hangingPunct="1" indent="-228600" latinLnBrk="0" marL="11430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baseline="0" cap="none" sz="16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algn="l" defTabSz="914400" eaLnBrk="1" fontAlgn="auto" hangingPunct="1" indent="-228600" latinLnBrk="0" marL="1600200" rtl="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baseline="0" cap="none" sz="14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algn="l" defTabSz="914400" eaLnBrk="1" fontAlgn="auto" hangingPunct="1" indent="-228600" latinLnBrk="0" marL="2057400" rtl="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/>
        </p:spPr>
        <p:txBody>
          <a:bodyPr anchor="ctr" anchorCtr="0" bIns="46990" lIns="90170" rIns="90170" rtlCol="0" tIns="46990" vert="horz">
            <a:normAutofit/>
          </a:bodyPr>
          <a:p>
            <a:r>
              <a:rPr altLang="en-US" dirty="0" lang="zh-CN"/>
              <a:t>单击此处编辑母版标题样式</a:t>
            </a:r>
            <a:endParaRPr altLang="en-US" dirty="0" lang="zh-CN"/>
          </a:p>
        </p:txBody>
      </p:sp>
      <p:sp>
        <p:nvSpPr>
          <p:cNvPr id="104860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/>
        </p:spPr>
        <p:txBody>
          <a:bodyPr bIns="46800" lIns="90000" rIns="90000" rtlCol="0" tIns="46800" vert="horz">
            <a:normAutofit/>
          </a:bodyPr>
          <a:p>
            <a:pPr lvl="0"/>
            <a:r>
              <a:rPr altLang="en-US" dirty="0" lang="zh-CN"/>
              <a:t>单击此处编辑母版文本样式</a:t>
            </a:r>
            <a:endParaRPr altLang="en-US" dirty="0" lang="zh-CN"/>
          </a:p>
          <a:p>
            <a:pPr lvl="1"/>
            <a:r>
              <a:rPr altLang="en-US" dirty="0" lang="zh-CN"/>
              <a:t>第二级</a:t>
            </a:r>
            <a:endParaRPr altLang="en-US" dirty="0" lang="zh-CN"/>
          </a:p>
          <a:p>
            <a:pPr lvl="2"/>
            <a:r>
              <a:rPr altLang="en-US" dirty="0" lang="zh-CN"/>
              <a:t>第三级</a:t>
            </a:r>
            <a:endParaRPr altLang="en-US" dirty="0" lang="zh-CN"/>
          </a:p>
          <a:p>
            <a:pPr lvl="3"/>
            <a:r>
              <a:rPr altLang="en-US" dirty="0" lang="zh-CN"/>
              <a:t>第四级</a:t>
            </a:r>
            <a:endParaRPr altLang="en-US" dirty="0" lang="zh-CN"/>
          </a:p>
          <a:p>
            <a:pPr lvl="4"/>
            <a:r>
              <a:rPr altLang="en-US" dirty="0" lang="zh-CN"/>
              <a:t>第五级</a:t>
            </a:r>
            <a:endParaRPr altLang="en-US" dirty="0" lang="zh-CN"/>
          </a:p>
        </p:txBody>
      </p:sp>
      <p:sp>
        <p:nvSpPr>
          <p:cNvPr id="104860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l">
              <a:defRPr baseline="0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0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ctr">
              <a:defRPr baseline="0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dirty="0" lang="zh-CN"/>
          </a:p>
        </p:txBody>
      </p:sp>
      <p:sp>
        <p:nvSpPr>
          <p:cNvPr id="104860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/>
        </p:spPr>
        <p:txBody>
          <a:bodyPr anchor="ctr" bIns="45720" lIns="91440" rIns="91440" rtlCol="0" tIns="45720" vert="horz">
            <a:normAutofit/>
          </a:bodyPr>
          <a:lstStyle>
            <a:lvl1pPr algn="r">
              <a:defRPr baseline="0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altLang="en-US" lang="zh-CN" smtClean="0"/>
            </a:fld>
            <a:endParaRPr altLang="en-US" dirty="0" lang="zh-CN"/>
          </a:p>
        </p:txBody>
      </p:sp>
    </p:spTree>
    <p:custDataLst>
      <p:tags r:id="rId19"/>
    </p:custDataLst>
  </p:cSld>
  <p:clrMap accent1="accent1" accent2="accent2" accent3="accent3" accent4="accent4" accent5="accent5" accent6="accent6" bg1="lt1" bg2="lt2" tx1="dk1" tx2="dk2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eaLnBrk="1" fontAlgn="auto" hangingPunct="1" latinLnBrk="0" rtl="0">
        <a:lnSpc>
          <a:spcPct val="100000"/>
        </a:lnSpc>
        <a:spcBef>
          <a:spcPct val="0"/>
        </a:spcBef>
        <a:buNone/>
        <a:defRPr baseline="0" b="0" cap="none" sz="3600" kern="1200" normalizeH="0" spc="300" strike="noStrike" u="none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algn="l" defTabSz="914400" eaLnBrk="1" fontAlgn="auto" hangingPunct="1" indent="-228600" latinLnBrk="0" marL="2286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baseline="0" cap="none" sz="18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algn="l" defTabSz="914400" eaLnBrk="1" fontAlgn="auto" hangingPunct="1" indent="-228600" latinLnBrk="0" marL="6858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algn="l" pos="1609725"/>
          <a:tab algn="l" pos="1609725"/>
          <a:tab algn="l" pos="1609725"/>
          <a:tab algn="l" pos="1609725"/>
        </a:tabLst>
        <a:defRPr baseline="0" cap="none" sz="16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algn="l" defTabSz="914400" eaLnBrk="1" fontAlgn="auto" hangingPunct="1" indent="-228600" latinLnBrk="0" marL="11430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baseline="0" cap="none" sz="16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algn="l" defTabSz="914400" eaLnBrk="1" fontAlgn="auto" hangingPunct="1" indent="-228600" latinLnBrk="0" marL="1600200" rtl="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baseline="0" cap="none" sz="14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algn="l" defTabSz="914400" eaLnBrk="1" fontAlgn="auto" hangingPunct="1" indent="-228600" latinLnBrk="0" marL="2057400" rtl="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baseline="0" cap="none" sz="1400" kern="1200" normalizeH="0" spc="150" strike="noStrike" u="none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39.xml"/><Relationship Id="rId3" Type="http://schemas.openxmlformats.org/officeDocument/2006/relationships/slideLayout" Target="../slideLayouts/slideLayout13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tags" Target="../tags/tag140.xml"/><Relationship Id="rId3" Type="http://schemas.openxmlformats.org/officeDocument/2006/relationships/image" Target="../media/image2.jpeg"/><Relationship Id="rId4" Type="http://schemas.openxmlformats.org/officeDocument/2006/relationships/tags" Target="../tags/tag141.xml"/><Relationship Id="rId5" Type="http://schemas.openxmlformats.org/officeDocument/2006/relationships/image" Target="../media/image3.jpeg"/><Relationship Id="rId6" Type="http://schemas.openxmlformats.org/officeDocument/2006/relationships/image" Target="../media/image4.png"/><Relationship Id="rId7" Type="http://schemas.openxmlformats.org/officeDocument/2006/relationships/image" Target="../media/image5.jpeg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image" Target="../media/image6.jpeg"/><Relationship Id="rId1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ext 1"/>
          <p:cNvSpPr/>
          <p:nvPr/>
        </p:nvSpPr>
        <p:spPr>
          <a:xfrm>
            <a:off x="1526400" y="3038549"/>
            <a:ext cx="9144000" cy="1200075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00000"/>
              </a:lnSpc>
              <a:buNone/>
            </a:pPr>
            <a:endParaRPr dirty="0" sz="1600" lang="en-US"/>
          </a:p>
        </p:txBody>
      </p:sp>
      <p:sp>
        <p:nvSpPr>
          <p:cNvPr id="1048608" name="文本框 1"/>
          <p:cNvSpPr txBox="1"/>
          <p:nvPr/>
        </p:nvSpPr>
        <p:spPr>
          <a:xfrm>
            <a:off x="1661795" y="3038475"/>
            <a:ext cx="8764270" cy="973455"/>
          </a:xfrm>
          <a:prstGeom prst="rect"/>
          <a:noFill/>
        </p:spPr>
        <p:txBody>
          <a:bodyPr rtlCol="0" wrap="square">
            <a:noAutofit/>
          </a:bodyPr>
          <a:p>
            <a:pPr algn="ctr"/>
            <a:r>
              <a:rPr altLang="en-US" sz="44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电子</a:t>
            </a:r>
            <a:r>
              <a:rPr altLang="en-US" sz="44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</a:t>
            </a:r>
            <a:r>
              <a:rPr altLang="en-US" sz="44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大赛</a:t>
            </a:r>
            <a:r>
              <a:rPr altLang="en-US" sz="44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altLang="en-US" sz="44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endParaRPr altLang="en-US" sz="44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06" name=""/>
        <p:cNvGrpSpPr/>
        <p:nvPr/>
      </p:nvGrpSpPr>
      <p:grpSpPr>
        <a:xfrm/>
      </p:grpSpPr>
      <p:sp>
        <p:nvSpPr>
          <p:cNvPr id="1048612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题目二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：面向老年人的智能可穿戴健康监测手环（陈鸿鹏老师出题）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13" name="文本框 1"/>
          <p:cNvSpPr txBox="1"/>
          <p:nvPr/>
        </p:nvSpPr>
        <p:spPr>
          <a:xfrm>
            <a:off x="368300" y="2205355"/>
            <a:ext cx="11460480" cy="396811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背景：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随着社会老龄化趋势加剧，老年人的健康问题日益受到关注。传统医疗监护设备不便携，无法对老年人的日常健康状态进行长期、连续的监测。本项目旨在设计并制作一款面向老年人的智能可穿戴健康监测手环，能够实时监测关键生理参数，并在异常情况下及时向家属或监护人发出警报，为老年人的健康保驾护航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07" name=""/>
        <p:cNvGrpSpPr/>
        <p:nvPr/>
      </p:nvGrpSpPr>
      <p:grpSpPr>
        <a:xfrm/>
      </p:grpSpPr>
      <p:sp>
        <p:nvSpPr>
          <p:cNvPr id="1048614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题目二：面向老年人的智能可穿戴健康监测手环（陈鸿鹏老师出题）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15" name="文本框 1"/>
          <p:cNvSpPr txBox="1"/>
          <p:nvPr/>
        </p:nvSpPr>
        <p:spPr>
          <a:xfrm>
            <a:off x="368300" y="2277110"/>
            <a:ext cx="11460480" cy="396811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设计任务：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设计并制作一款可穿戴于手腕的智能健康监测设备（手环原型），要求完成柔性手环的基础材料设计、硬件电路设计、嵌入式软件编程及一个简单的上位机（手机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APP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或电脑端）数据显示界面。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08" name=""/>
        <p:cNvGrpSpPr/>
        <p:nvPr/>
      </p:nvGrpSpPr>
      <p:grpSpPr>
        <a:xfrm/>
      </p:grpSpPr>
      <p:sp>
        <p:nvSpPr>
          <p:cNvPr id="1048616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二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：面向老年人的智能可穿戴健康监测手环（陈鸿鹏老师出题）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17" name="文本框 2"/>
          <p:cNvSpPr txBox="1"/>
          <p:nvPr/>
        </p:nvSpPr>
        <p:spPr>
          <a:xfrm>
            <a:off x="368300" y="1988820"/>
            <a:ext cx="11460480" cy="396811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具体功能需求：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核心生理参数监测：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脉搏监测：使用传感器（如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PPG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）非侵入式地测量心率（单位：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bpm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），并具备一定的抗运动干扰能力（基础功能）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体表温度监测：能够测量手腕部位的体表温度，并可通过环境温度补偿，估算核心体温趋势（选做功能）。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跌倒检测：内置三轴加速度计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陀螺仪，通过算法识别老年人可能发生的跌倒（选做功能）。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09" name=""/>
        <p:cNvGrpSpPr/>
        <p:nvPr/>
      </p:nvGrpSpPr>
      <p:grpSpPr>
        <a:xfrm/>
      </p:grpSpPr>
      <p:sp>
        <p:nvSpPr>
          <p:cNvPr id="1048618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二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：面向老年人的智能可穿戴健康监测手环（陈鸿鹏老师出题）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19" name="文本框 1"/>
          <p:cNvSpPr txBox="1"/>
          <p:nvPr/>
        </p:nvSpPr>
        <p:spPr>
          <a:xfrm>
            <a:off x="368300" y="1845310"/>
            <a:ext cx="11460480" cy="3968115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数据处理与报警：对采集到的原始数据进行滤波、计算，得到可靠的生理参数值。当检测到异常心率或体温情况时，如心率过高（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&gt;120 bpm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）或过低（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&lt;50 bpm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），能发出声光提示报警。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人机交互与低功耗：配备一个小型显示屏，能够循环显示或按键切换显示时间、心率、血氧、温度等信息。具备一个物理按键，用于开关机、切换显示界面、取消误报警等。考虑设备的续航能力，系统应具备低功耗设计（如空闲时进入休眠模式），并报告其理论或实测续航时间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10" name=""/>
        <p:cNvGrpSpPr/>
        <p:nvPr/>
      </p:nvGrpSpPr>
      <p:grpSpPr>
        <a:xfrm/>
      </p:grpSpPr>
      <p:sp>
        <p:nvSpPr>
          <p:cNvPr id="1048620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二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：面向老年人的智能可穿戴健康监测手环（陈鸿鹏老师出题）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21" name="文本框 1"/>
          <p:cNvSpPr txBox="1"/>
          <p:nvPr/>
        </p:nvSpPr>
        <p:spPr>
          <a:xfrm>
            <a:off x="408305" y="2061210"/>
            <a:ext cx="11460480" cy="396811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发挥与创新部分（加分项）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）数据存储与分析：存储历史健康数据，并绘制简单的趋势图。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）智能识别：降低日常活动（如坐下、弯腰）导致的误报率。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）充电方式：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设计方便的无线充电或有线磁吸充电方案。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11" name=""/>
        <p:cNvGrpSpPr/>
        <p:nvPr/>
      </p:nvGrpSpPr>
      <p:grpSpPr>
        <a:xfrm/>
      </p:grpSpPr>
      <p:sp>
        <p:nvSpPr>
          <p:cNvPr id="1048622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三：基于机器视觉的视觉闭环预警系统（王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展老师出题）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23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背景：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设计一个基于机器视觉的视觉闭环系统，可用于障碍距离监测，避免发生碰撞。要求系统可设定危险距离，并在危险的情况下发出预警。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要求：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、能检测到相关的目标；能够通过机器学习，识别到潜在的存在危险的位置或区域。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、能识别出摄像头与危险物品或区域的距离；（基于深度相机）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、设计嵌入式小程序，能设定人和目标之间的安全距离，小于设定的安全距离时发出警报。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ext 1"/>
          <p:cNvSpPr/>
          <p:nvPr/>
        </p:nvSpPr>
        <p:spPr>
          <a:xfrm>
            <a:off x="1526400" y="3038549"/>
            <a:ext cx="9144000" cy="1200075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ct val="100000"/>
              </a:lnSpc>
              <a:buNone/>
            </a:pPr>
            <a:endParaRPr dirty="0" sz="1600" lang="en-US"/>
          </a:p>
        </p:txBody>
      </p:sp>
      <p:sp>
        <p:nvSpPr>
          <p:cNvPr id="1048625" name="Text 3"/>
          <p:cNvSpPr/>
          <p:nvPr/>
        </p:nvSpPr>
        <p:spPr>
          <a:xfrm>
            <a:off x="1488440" y="1052945"/>
            <a:ext cx="9144000" cy="122400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lnSpc>
                <a:spcPct val="130000"/>
              </a:lnSpc>
              <a:buNone/>
            </a:pPr>
            <a:r>
              <a:rPr b="1" dirty="0" sz="6000" lang="en-US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02</a:t>
            </a:r>
            <a:r>
              <a:rPr b="1" dirty="0" sz="6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b="1" dirty="0" sz="60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r" indent="0" marL="0">
              <a:lnSpc>
                <a:spcPct val="130000"/>
              </a:lnSpc>
              <a:buNone/>
            </a:pPr>
            <a:r>
              <a:rPr altLang="en-US" b="1" dirty="0" sz="6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软件设计大赛</a:t>
            </a:r>
            <a:endParaRPr altLang="en-US" b="1" dirty="0" sz="6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18" name=""/>
        <p:cNvGrpSpPr/>
        <p:nvPr/>
      </p:nvGrpSpPr>
      <p:grpSpPr>
        <a:xfrm/>
      </p:grpSpPr>
      <p:sp>
        <p:nvSpPr>
          <p:cNvPr id="1048634" name="文本框 1"/>
          <p:cNvSpPr txBox="1"/>
          <p:nvPr/>
        </p:nvSpPr>
        <p:spPr>
          <a:xfrm>
            <a:off x="306070" y="237490"/>
            <a:ext cx="11826875" cy="1162685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题目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一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：糖尿病知识库问答系统（张春明老师出题）</a:t>
            </a:r>
            <a:endParaRPr altLang="en-US" b="1" dirty="0" sz="4000" kern="100" lang="zh-CN" spc="150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48635" name="文本框 2"/>
          <p:cNvSpPr txBox="1"/>
          <p:nvPr/>
        </p:nvSpPr>
        <p:spPr>
          <a:xfrm>
            <a:off x="527685" y="1025525"/>
            <a:ext cx="11153775" cy="1877695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3200" kern="100" lang="en-US" spc="15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任务描述‌：</a:t>
            </a:r>
            <a:r>
              <a:rPr altLang="zh-CN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设计一个结合结构化知识库和大语言模型(LLM)的糖尿病医疗问答系统。系统需准确回答糖尿病相关问题，同时确保医疗建议的安全性。</a:t>
            </a:r>
            <a:endParaRPr altLang="zh-CN" dirty="0" sz="3200" kern="100" lang="zh-CN" spc="150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48636" name="文本框 4"/>
          <p:cNvSpPr txBox="1"/>
          <p:nvPr/>
        </p:nvSpPr>
        <p:spPr>
          <a:xfrm>
            <a:off x="551815" y="2647315"/>
            <a:ext cx="11089005" cy="4169410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3200" kern="100" lang="en-US" spc="15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开发建议</a:t>
            </a:r>
            <a:endParaRPr altLang="zh-CN" b="1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‌技术栈‌：</a:t>
            </a:r>
            <a:endParaRPr altLang="zh-CN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知识库：</a:t>
            </a:r>
            <a:r>
              <a:rPr altLang="zh-CN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Neo4j图数据库存储糖尿病实体关系，Elasticsearch实现语义检索。</a:t>
            </a:r>
            <a:endParaRPr altLang="zh-CN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大模型：</a:t>
            </a:r>
            <a:r>
              <a:rPr altLang="zh-CN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LLaMA-2 13B（医疗微调版）通过HuggingFace TGI部署，支持RAG增强生成。</a:t>
            </a:r>
            <a:endParaRPr altLang="zh-CN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安全层：</a:t>
            </a:r>
            <a:r>
              <a:rPr altLang="zh-CN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正则表达式+ML模型过滤高风险词汇，规则引擎处理紧急情况。</a:t>
            </a:r>
            <a:endParaRPr altLang="zh-CN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endParaRPr altLang="zh-CN" b="1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19" name=""/>
        <p:cNvGrpSpPr/>
        <p:nvPr/>
      </p:nvGrpSpPr>
      <p:grpSpPr>
        <a:xfrm/>
      </p:grpSpPr>
      <p:sp>
        <p:nvSpPr>
          <p:cNvPr id="1048637" name="文本框 1"/>
          <p:cNvSpPr txBox="1"/>
          <p:nvPr/>
        </p:nvSpPr>
        <p:spPr>
          <a:xfrm>
            <a:off x="306070" y="237490"/>
            <a:ext cx="11826875" cy="1162685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题目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一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：糖尿病知识库问答系统（张春明老师出题）</a:t>
            </a:r>
            <a:endParaRPr altLang="en-US" b="1" dirty="0" sz="4000" kern="100" lang="zh-CN" spc="150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48638" name="文本框 4"/>
          <p:cNvSpPr txBox="1"/>
          <p:nvPr/>
        </p:nvSpPr>
        <p:spPr>
          <a:xfrm>
            <a:off x="551180" y="1085850"/>
            <a:ext cx="11089005" cy="5658485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核心步骤</a:t>
            </a:r>
            <a:r>
              <a:rPr altLang="zh-CN" b="1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知识工程</a:t>
            </a:r>
            <a:r>
              <a:rPr altLang="zh-CN" b="1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爬取权威数据构建图谱，医生校验确保准确性。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b="1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系统开发</a:t>
            </a:r>
            <a:r>
              <a:rPr altLang="zh-CN" b="1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FastAPI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实现问答接口，混合检索（关键词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+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向量）优先命中知识库，低置信度时调用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LLM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。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安全加固</a:t>
            </a:r>
            <a:r>
              <a:rPr altLang="zh-CN" b="1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实时拦截敏感词，答案附带证据溯源，符合医疗合规标准。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测试优化</a:t>
            </a:r>
            <a:r>
              <a:rPr altLang="zh-CN" b="1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通过医生反馈闭环持续迭代，提升回答准确率与安全性。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endParaRPr altLang="zh-CN" b="1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20" name=""/>
        <p:cNvGrpSpPr/>
        <p:nvPr/>
      </p:nvGrpSpPr>
      <p:grpSpPr>
        <a:xfrm/>
      </p:grpSpPr>
      <p:sp>
        <p:nvSpPr>
          <p:cNvPr id="1048639" name="文本框 1"/>
          <p:cNvSpPr txBox="1"/>
          <p:nvPr/>
        </p:nvSpPr>
        <p:spPr>
          <a:xfrm>
            <a:off x="306070" y="237490"/>
            <a:ext cx="11826875" cy="1162685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题目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二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en-US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儿科肺炎多模态辅助诊断系统开发</a:t>
            </a:r>
            <a:r>
              <a:rPr altLang="zh-CN" b="1" dirty="0" sz="40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（张春明老师出题）</a:t>
            </a:r>
            <a:endParaRPr altLang="en-US" b="1" dirty="0" sz="4000" kern="100" lang="zh-CN" spc="150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48640" name="文本框 2"/>
          <p:cNvSpPr txBox="1"/>
          <p:nvPr/>
        </p:nvSpPr>
        <p:spPr>
          <a:xfrm>
            <a:off x="539115" y="1736090"/>
            <a:ext cx="11200765" cy="1300480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3200" kern="100" lang="en-US" spc="15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任务描述‌：</a:t>
            </a:r>
            <a:r>
              <a:rPr altLang="zh-CN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开发一个融合胸部X光片与临床电子病历（EMR）的系统，辅助医生快速识别儿童细菌性肺炎。</a:t>
            </a:r>
            <a:endParaRPr altLang="zh-CN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48641" name="文本框 5"/>
          <p:cNvSpPr txBox="1"/>
          <p:nvPr/>
        </p:nvSpPr>
        <p:spPr>
          <a:xfrm>
            <a:off x="539115" y="3173730"/>
            <a:ext cx="11089005" cy="4169410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3200" kern="100" lang="en-US" spc="15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开发建议</a:t>
            </a:r>
            <a:endParaRPr altLang="zh-CN" b="1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2.1‌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数据预处理模块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实现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DICOM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影像标准化：窗宽窗位调整、肺部区域分割（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U-Net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）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EMR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文本结构化：提取关键字段（体温、白细胞计数、症状时长）与自由文本症状描述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endParaRPr altLang="zh-CN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21" name=""/>
        <p:cNvGrpSpPr/>
        <p:nvPr/>
      </p:nvGrpSpPr>
      <p:grpSpPr>
        <a:xfrm/>
      </p:grpSpPr>
      <p:sp>
        <p:nvSpPr>
          <p:cNvPr id="1048642" name="文本框 1"/>
          <p:cNvSpPr txBox="1"/>
          <p:nvPr/>
        </p:nvSpPr>
        <p:spPr>
          <a:xfrm>
            <a:off x="306070" y="237490"/>
            <a:ext cx="11826875" cy="1162685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题目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二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en-US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儿科肺炎多模态辅助诊断系统开发</a:t>
            </a:r>
            <a:r>
              <a:rPr altLang="zh-CN" b="1" dirty="0" sz="40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（张春明老师出题）</a:t>
            </a:r>
            <a:endParaRPr altLang="en-US" b="1" dirty="0" sz="4000" kern="100" lang="zh-CN" spc="150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48643" name="文本框 5"/>
          <p:cNvSpPr txBox="1"/>
          <p:nvPr/>
        </p:nvSpPr>
        <p:spPr>
          <a:xfrm>
            <a:off x="539115" y="1839595"/>
            <a:ext cx="11089005" cy="4169410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3200" kern="100" lang="en-US" spc="15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开发建议</a:t>
            </a:r>
            <a:endParaRPr altLang="zh-CN" b="1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2.2‌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多模态融合分析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影像分支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：使用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ResNet-50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提取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X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光片特征（肺浸润、实变）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文本分支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BERT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编码临床文本（症状关键词：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"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湿罗音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"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、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"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呼吸急促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"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）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融合策略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：设计双路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Transformer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（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Late Fusion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），动态加权影像与文本特征权重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altLang="zh-CN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22" name=""/>
        <p:cNvGrpSpPr/>
        <p:nvPr/>
      </p:nvGrpSpPr>
      <p:grpSpPr>
        <a:xfrm/>
      </p:grpSpPr>
      <p:sp>
        <p:nvSpPr>
          <p:cNvPr id="1048644" name="文本框 1"/>
          <p:cNvSpPr txBox="1"/>
          <p:nvPr/>
        </p:nvSpPr>
        <p:spPr>
          <a:xfrm>
            <a:off x="306070" y="237490"/>
            <a:ext cx="11826875" cy="1162685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题目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二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en-US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儿科肺炎多模态辅助诊断系统开发</a:t>
            </a:r>
            <a:r>
              <a:rPr altLang="zh-CN" b="1" dirty="0" sz="40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（张春明老师出题）</a:t>
            </a:r>
            <a:endParaRPr altLang="en-US" b="1" dirty="0" sz="4000" kern="100" lang="zh-CN" spc="150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48645" name="文本框 5"/>
          <p:cNvSpPr txBox="1"/>
          <p:nvPr/>
        </p:nvSpPr>
        <p:spPr>
          <a:xfrm>
            <a:off x="539115" y="1839595"/>
            <a:ext cx="11089005" cy="4169410"/>
          </a:xfrm>
          <a:prstGeom prst="rect"/>
          <a:noFill/>
        </p:spPr>
        <p:txBody>
          <a:bodyPr anchor="t" rtlCol="0" wrap="square">
            <a:noAutofit/>
          </a:bodyPr>
          <a:p>
            <a:pPr>
              <a:lnSpc>
                <a:spcPct val="100000"/>
              </a:lnSpc>
            </a:pPr>
            <a:r>
              <a:rPr altLang="zh-CN" b="1" dirty="0" sz="3200" kern="100" lang="en-US" spc="15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开发建议</a:t>
            </a:r>
            <a:endParaRPr altLang="zh-CN" b="1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2.3‌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决策与解释性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输出概率评分（细菌性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/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病毒性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/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阴性）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生成可视化热力图：定位影像关键区域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 + 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高亮文本证据词</a:t>
            </a:r>
            <a:endParaRPr altLang="en-US" dirty="0" sz="3200" kern="100" lang="zh-CN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en-US" dirty="0" sz="32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安全合规</a:t>
            </a:r>
            <a:r>
              <a:rPr altLang="zh-CN" dirty="0" sz="32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endParaRPr altLang="zh-CN" dirty="0" sz="3200" kern="100" lang="en-US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endParaRPr altLang="zh-CN" dirty="0" sz="3200" kern="100" lang="en-US"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23" name=""/>
        <p:cNvGrpSpPr/>
        <p:nvPr/>
      </p:nvGrpSpPr>
      <p:grpSpPr>
        <a:xfrm/>
      </p:grpSpPr>
      <p:sp>
        <p:nvSpPr>
          <p:cNvPr id="1048646" name="文本框 1"/>
          <p:cNvSpPr txBox="1"/>
          <p:nvPr/>
        </p:nvSpPr>
        <p:spPr>
          <a:xfrm>
            <a:off x="257175" y="322580"/>
            <a:ext cx="11461750" cy="13227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题目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二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：</a:t>
            </a:r>
            <a:r>
              <a:rPr altLang="en-US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儿科肺炎多模态辅助诊断系统开发</a:t>
            </a:r>
            <a:r>
              <a:rPr altLang="zh-CN" b="1" dirty="0" sz="4000" kern="100" lang="en-US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‌</a:t>
            </a:r>
            <a:r>
              <a:rPr altLang="zh-CN" b="1" dirty="0" sz="4000" kern="100" lang="zh-CN">
                <a:solidFill>
                  <a:schemeClr val="bg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（张春明老师出题）</a:t>
            </a:r>
            <a:endParaRPr altLang="en-US" b="1" dirty="0" sz="4000" kern="100" lang="zh-CN" spc="150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  <a:p>
            <a:endParaRPr altLang="en-US" sz="4000" lang="zh-CN"/>
          </a:p>
        </p:txBody>
      </p:sp>
      <p:sp>
        <p:nvSpPr>
          <p:cNvPr id="1048647" name="文本框 2"/>
          <p:cNvSpPr txBox="1"/>
          <p:nvPr/>
        </p:nvSpPr>
        <p:spPr>
          <a:xfrm>
            <a:off x="381000" y="1946910"/>
            <a:ext cx="11337290" cy="289433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技术栈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框架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PyTorch Lightning + MONAI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（医学影像）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+ HuggingFace Transformers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部署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FastAPI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封装模型，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DICOM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文件通过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DCMTK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解析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测试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：使用公开数据集（如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NIH ChestX-ray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）模拟病例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26" name=""/>
        <p:cNvGrpSpPr/>
        <p:nvPr/>
      </p:nvGrpSpPr>
      <p:grpSpPr>
        <a:xfrm/>
      </p:grpSpPr>
      <p:sp>
        <p:nvSpPr>
          <p:cNvPr id="1048650" name="文本框 3"/>
          <p:cNvSpPr txBox="1"/>
          <p:nvPr/>
        </p:nvSpPr>
        <p:spPr>
          <a:xfrm>
            <a:off x="345440" y="457835"/>
            <a:ext cx="10808970" cy="60896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：手术室器械实时监测与安全预警系统（张春明老师出题）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51" name="文本框 9"/>
          <p:cNvSpPr txBox="1"/>
          <p:nvPr/>
        </p:nvSpPr>
        <p:spPr>
          <a:xfrm>
            <a:off x="336550" y="1988820"/>
            <a:ext cx="10672445" cy="333692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任务背景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在微创手术过程中，精细器械（如缝合针、钳子等）极易遗失在体腔内。设计基于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YOLOv8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的实时检测系统，防止手术器械遗留事故。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3.1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核心需求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使用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YOLOv8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训练专用模型识别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类核心手术器械（持针器、血管钳、纱布等）针对医疗场景优化：解决金属反光、血液遮挡、器械重叠等干扰问题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27" name=""/>
        <p:cNvGrpSpPr/>
        <p:nvPr/>
      </p:nvGrpSpPr>
      <p:grpSpPr>
        <a:xfrm/>
      </p:grpSpPr>
      <p:sp>
        <p:nvSpPr>
          <p:cNvPr id="1048652" name="文本框 5"/>
          <p:cNvSpPr txBox="1"/>
          <p:nvPr/>
        </p:nvSpPr>
        <p:spPr>
          <a:xfrm>
            <a:off x="345440" y="457835"/>
            <a:ext cx="10808970" cy="60896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：手术室器械实时监测与安全预警系统（张春明老师出题）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53" name="文本框 6"/>
          <p:cNvSpPr txBox="1"/>
          <p:nvPr/>
        </p:nvSpPr>
        <p:spPr>
          <a:xfrm>
            <a:off x="408305" y="1701165"/>
            <a:ext cx="10746105" cy="49174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3.2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双模态输入处理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视觉流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：实时解析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1080P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手术视频（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≥25fps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辅助信号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：集成器械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RFID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计数数据，当视觉检测与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RFID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数量不一致时触发预警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3.3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智能预警模块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实现器械轨迹追踪（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ByteTrack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算法）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关键风险检测：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器械离开视野超过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秒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→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黄色预警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器械接触切口边缘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→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红色边界框闪烁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28" name=""/>
        <p:cNvGrpSpPr/>
        <p:nvPr/>
      </p:nvGrpSpPr>
      <p:grpSpPr>
        <a:xfrm/>
      </p:grpSpPr>
      <p:sp>
        <p:nvSpPr>
          <p:cNvPr id="1048654" name="文本框 3"/>
          <p:cNvSpPr txBox="1"/>
          <p:nvPr/>
        </p:nvSpPr>
        <p:spPr>
          <a:xfrm>
            <a:off x="345440" y="457835"/>
            <a:ext cx="11324590" cy="60896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：手术室器械实时监测与安全预警系统（张春明老师出题）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55" name="文本框 1"/>
          <p:cNvSpPr txBox="1"/>
          <p:nvPr/>
        </p:nvSpPr>
        <p:spPr>
          <a:xfrm>
            <a:off x="407670" y="2493010"/>
            <a:ext cx="11212830" cy="2856865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3.4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手术复盘系统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自动生成器械使用热力图（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OpenCV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可视化）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导出器械出现时间轴（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CSV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格式）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29" name=""/>
        <p:cNvGrpSpPr/>
        <p:nvPr/>
      </p:nvGrpSpPr>
      <p:grpSpPr>
        <a:xfrm/>
      </p:grpSpPr>
      <p:sp>
        <p:nvSpPr>
          <p:cNvPr id="1048656" name="文本框 3"/>
          <p:cNvSpPr txBox="1"/>
          <p:nvPr/>
        </p:nvSpPr>
        <p:spPr>
          <a:xfrm>
            <a:off x="191770" y="476885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：基于区块链的跨机构电子病历安全共享系统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（张春明老师出题）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57" name="文本框 1"/>
          <p:cNvSpPr txBox="1"/>
          <p:nvPr/>
        </p:nvSpPr>
        <p:spPr>
          <a:xfrm>
            <a:off x="345440" y="1845945"/>
            <a:ext cx="11675110" cy="1315466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任务要求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设计一个基于区块链的分布式电子病历管理系统，实现以下核心功能：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患者主权控制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患者通过数字签名授权医疗机构访问病历，支持动态权限管理（如时效性授权、部分字段授权）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数据不可篡改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采用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Merkle Tree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结构存储病历版本变更记录，确保历史修改可追溯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30" name=""/>
        <p:cNvGrpSpPr/>
        <p:nvPr/>
      </p:nvGrpSpPr>
      <p:grpSpPr>
        <a:xfrm/>
      </p:grpSpPr>
      <p:sp>
        <p:nvSpPr>
          <p:cNvPr id="1048658" name="文本框 1"/>
          <p:cNvSpPr txBox="1"/>
          <p:nvPr/>
        </p:nvSpPr>
        <p:spPr>
          <a:xfrm>
            <a:off x="283210" y="2216785"/>
            <a:ext cx="11813540" cy="3526155"/>
          </a:xfrm>
          <a:prstGeom prst="rect"/>
          <a:noFill/>
        </p:spPr>
        <p:txBody>
          <a:bodyPr anchor="t"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隐私保护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使用零知识证明验证患者年龄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/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血型等关键属性而不暴露具体数据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敏感字段（如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HIV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检测结果）采用同态加密存储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跨链交互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通过跨链桥接公立医院联盟链与私立医疗机构的以太坊侧链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紧急访问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设计基于智能合约的多签机制（家属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+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主治医生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+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医院伦理委员会）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048659" name="文本框 3"/>
          <p:cNvSpPr txBox="1"/>
          <p:nvPr/>
        </p:nvSpPr>
        <p:spPr>
          <a:xfrm>
            <a:off x="191770" y="476885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：基于区块链的跨机构电子病历安全共享系统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（张春明老师出题）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31" name=""/>
        <p:cNvGrpSpPr/>
        <p:nvPr/>
      </p:nvGrpSpPr>
      <p:grpSpPr>
        <a:xfrm/>
      </p:grpSpPr>
      <p:sp>
        <p:nvSpPr>
          <p:cNvPr id="1048660" name="文本框 2"/>
          <p:cNvSpPr txBox="1"/>
          <p:nvPr/>
        </p:nvSpPr>
        <p:spPr>
          <a:xfrm>
            <a:off x="123825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：情绪识别系统（张春明老师出题）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61" name="文本框 4"/>
          <p:cNvSpPr txBox="1"/>
          <p:nvPr/>
        </p:nvSpPr>
        <p:spPr>
          <a:xfrm>
            <a:off x="334010" y="909320"/>
            <a:ext cx="11430635" cy="5882641"/>
          </a:xfrm>
          <a:prstGeom prst="rect"/>
          <a:noFill/>
        </p:spPr>
        <p:txBody>
          <a:bodyPr rtlCol="0" wrap="square">
            <a:sp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任务要求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设计一个基于深度学习的人脸情绪识别系统，需实现以下功能：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实时摄像头检测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通过摄像头捕捉人脸图像并实时识别情绪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多模态识别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支持面部表情、语音、文本三种数据输入方式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多标签分类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输出情绪类别需包含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愤怒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厌恶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恐惧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快乐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悲伤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惊讶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六种基础情绪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模型优化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采用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YOLOv8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框架优化小目标检测，卷积神经网络（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CNN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）提升特征提取能力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32" name=""/>
        <p:cNvGrpSpPr/>
        <p:nvPr/>
      </p:nvGrpSpPr>
      <p:grpSpPr>
        <a:xfrm/>
      </p:grpSpPr>
      <p:sp>
        <p:nvSpPr>
          <p:cNvPr id="1048662" name="文本框 2"/>
          <p:cNvSpPr txBox="1"/>
          <p:nvPr/>
        </p:nvSpPr>
        <p:spPr>
          <a:xfrm>
            <a:off x="191770" y="476885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：情绪识别系统（张春明老师出题）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63" name="文本框 3"/>
          <p:cNvSpPr txBox="1"/>
          <p:nvPr/>
        </p:nvSpPr>
        <p:spPr>
          <a:xfrm>
            <a:off x="307975" y="1751965"/>
            <a:ext cx="11517630" cy="467614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技术选型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模型框架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YOLOv8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（轻量化版本）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+CSPNet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骨干网络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开发语言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Python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PyQt5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界面）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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数据集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‌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整合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FER2013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CK+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RAF-DB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等公开数据集（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35,685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张标注图像）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36" name=""/>
        <p:cNvGrpSpPr/>
        <p:nvPr/>
      </p:nvGrpSpPr>
      <p:grpSpPr>
        <a:xfrm/>
      </p:grpSpPr>
      <p:sp>
        <p:nvSpPr>
          <p:cNvPr id="1048669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题目六：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70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一、项目背景与愿景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在丰富多彩的校园生活中，学生们常常会涌现出大量临时性、轻量级的社交组队需求。例如：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想去打羽毛球，缺个伴儿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打车去火车站，想找一个拼车的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收到比赛通知，想找一个会编程的队友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等等。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然而，现有的社交工具（如微信群、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QQ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群）信息过载、目标不精准，难以满足这种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即时匹配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的需求。这导致了大量微小的社交需求被压抑，既影响了学生的生活体验，也错失了许多结识新朋友、丰富课余生活的机会。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37" name=""/>
        <p:cNvGrpSpPr/>
        <p:nvPr/>
      </p:nvGrpSpPr>
      <p:grpSpPr>
        <a:xfrm/>
      </p:grpSpPr>
      <p:sp>
        <p:nvSpPr>
          <p:cNvPr id="1048671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72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本项目旨在开发一个名为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搭个伙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的微信小程序，打造一个安全、便捷、有趣的校园即时组队平台。我们希望通过技术手段，成为校园生活的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社交润滑剂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，让每一次临时的邀约都能得到回应，让孤独的瞬间被轻松化解，构建一个更加温暖和连接的校园社区。</a:t>
            </a:r>
            <a:endParaRPr altLang="en-US" sz="3200" lang="zh-CN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38" name=""/>
        <p:cNvGrpSpPr/>
        <p:nvPr/>
      </p:nvGrpSpPr>
      <p:grpSpPr>
        <a:xfrm/>
      </p:grpSpPr>
      <p:sp>
        <p:nvSpPr>
          <p:cNvPr id="1048673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74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二、核心功能需求参赛团队需实现以下核心功能模块：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用户系统与匿名身份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用户通过学号验证或微信授权快捷登录。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系统为用户分配随机、有趣的临时昵称（如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奔跑的羚羊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自习室霸主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），在组队过程中保护真实身份。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建立简单的个人主页，用于展示信用积分和历史组队记录。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48675" name="文本框 4"/>
          <p:cNvSpPr txBox="1"/>
          <p:nvPr/>
        </p:nvSpPr>
        <p:spPr>
          <a:xfrm>
            <a:off x="-558800" y="2824480"/>
            <a:ext cx="4064000" cy="368300"/>
          </a:xfrm>
          <a:prstGeom prst="rect"/>
          <a:noFill/>
        </p:spPr>
        <p:txBody>
          <a:bodyPr rtlCol="0" wrap="square">
            <a:spAutoFit/>
          </a:bodyPr>
          <a:p>
            <a:endParaRPr altLang="en-US" 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39" name=""/>
        <p:cNvGrpSpPr/>
        <p:nvPr/>
      </p:nvGrpSpPr>
      <p:grpSpPr>
        <a:xfrm/>
      </p:grpSpPr>
      <p:sp>
        <p:nvSpPr>
          <p:cNvPr id="1048676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77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需求发布与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LBS  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提供极简的需求发布页面，包含：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活动类型：预设分类（如：运动健身、约饭、学习小组、游戏娱乐、出行、其他）。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核心信息：一句话描述、活动地点（基于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LBS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自动填充或手动选择校区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楼宇）、活动时间、所需人数。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发布的需求将自动附加地理位置信息（到校区级别），确保信息的相关性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40" name=""/>
        <p:cNvGrpSpPr/>
        <p:nvPr/>
      </p:nvGrpSpPr>
      <p:grpSpPr>
        <a:xfrm/>
      </p:grpSpPr>
      <p:sp>
        <p:nvSpPr>
          <p:cNvPr id="1048678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79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实时信息流与快速加入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首页以信息流形式，按时间或距离优先展示本校区的实时活动。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用户看到感兴趣的活动，可一键点击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加入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按钮，无需复杂申请。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一旦活动人数达到预设值，系统自动关闭加入通道，并在信息流中标记为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已满员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41" name=""/>
        <p:cNvGrpSpPr/>
        <p:nvPr/>
      </p:nvGrpSpPr>
      <p:grpSpPr>
        <a:xfrm/>
      </p:grpSpPr>
      <p:sp>
        <p:nvSpPr>
          <p:cNvPr id="1048680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81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通信与状态同步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成功加入活动后，系统自动创建一个临时聊天室，供组队成员沟通具体细节（如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我在篮球场东边第二个篮筐下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利用实时通信技术，确保活动状态（如满员、取消）能即时同步给所有相关用户。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42" name=""/>
        <p:cNvGrpSpPr/>
        <p:nvPr/>
      </p:nvGrpSpPr>
      <p:grpSpPr>
        <a:xfrm/>
      </p:grpSpPr>
      <p:sp>
        <p:nvSpPr>
          <p:cNvPr id="1048682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83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5.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信用与评价体系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活动结束后，系统引导参与者进行一次性、双向的匿名评价，可选标签为：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靠谱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或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鸽子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根据评价结果计算用户的信用积分。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靠谱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评价积累正向信用。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在信息流中，高信用积分用户的发布请求可获得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高信用队友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等视觉标识，增加被响应几率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43" name=""/>
        <p:cNvGrpSpPr/>
        <p:nvPr/>
      </p:nvGrpSpPr>
      <p:grpSpPr>
        <a:xfrm/>
      </p:grpSpPr>
      <p:sp>
        <p:nvSpPr>
          <p:cNvPr id="1048684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85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三、非功能性需求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性能需求：系统应能应对短时并发访问，尤其是在午间、晚间等高峰时段，页面加载与响应应流畅。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可用性需求：界面设计必须简洁直观，核心操作（发布、加入）应在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步内完成，符合大学生使用习惯。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安全性需求：严格保护用户隐私，任何情况下不向其他用户暴露手机号、微信号等真实信息。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建立内容审核与举报机制，对不良信息或用户进行快速处理。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可靠性需求：系统应保持稳定，特别是在活动状态变更、实时通信等关键环节，确保数据一致性。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44" name=""/>
        <p:cNvGrpSpPr/>
        <p:nvPr/>
      </p:nvGrpSpPr>
      <p:grpSpPr>
        <a:xfrm/>
      </p:grpSpPr>
      <p:sp>
        <p:nvSpPr>
          <p:cNvPr id="1048686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87" name="文本框 1"/>
          <p:cNvSpPr txBox="1"/>
          <p:nvPr/>
        </p:nvSpPr>
        <p:spPr>
          <a:xfrm>
            <a:off x="355600" y="141287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四、技术要求与建议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前端：主推微信小程序开发，以利用其天然的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LBS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、授权和分享能力。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后端：推荐使用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Node.js (Express/Koa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框架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Python (Django/FastAPI)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，以实现快速开发。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实时通信：建议使用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Socket.IO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或微信小程序自带的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WebSocket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能力。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数据库：使用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MySQL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PostgreSQL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作为主数据库，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Redis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用于缓存会话和实时活动列表。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部署：建议部署至腾讯云、阿里云等提供学生优惠的云服务器或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Serverless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平台。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45" name=""/>
        <p:cNvGrpSpPr/>
        <p:nvPr/>
      </p:nvGrpSpPr>
      <p:grpSpPr>
        <a:xfrm/>
      </p:grpSpPr>
      <p:sp>
        <p:nvSpPr>
          <p:cNvPr id="1048688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89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五、提交内容</a:t>
            </a:r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完整的源代码（含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README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部署说明）。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最终可访问、可演示的产品（小程序或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Web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应用）。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项目设计报告（包括需求分析、系统架构、数据库设计、核心算法说明等）。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答辩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PPT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（用于现场展示）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46" name=""/>
        <p:cNvGrpSpPr/>
        <p:nvPr/>
      </p:nvGrpSpPr>
      <p:grpSpPr>
        <a:xfrm/>
      </p:grpSpPr>
      <p:sp>
        <p:nvSpPr>
          <p:cNvPr id="1048690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六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搭个伙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”——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校园临时组队平台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（段平涛老师出题）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91" name="文本框 1"/>
          <p:cNvSpPr txBox="1"/>
          <p:nvPr/>
        </p:nvSpPr>
        <p:spPr>
          <a:xfrm>
            <a:off x="355600" y="1647825"/>
            <a:ext cx="11449685" cy="509778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六、创新方向建议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鼓励参赛团队在完成基础功能的前提下，在以下方面进行探索：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智能匹配算法：根据用户的历史活动偏好，为其推荐更可能感兴趣的活动。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活动结束后的社区：成功的组队可以转化为一个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兴趣小组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，便于长期联系。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更丰富的信用模型：引入更多维度（如守时、活跃度）来构建更立体的用户画像。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50" name=""/>
        <p:cNvGrpSpPr/>
        <p:nvPr/>
      </p:nvGrpSpPr>
      <p:grpSpPr>
        <a:xfrm/>
      </p:grpSpPr>
      <p:sp>
        <p:nvSpPr>
          <p:cNvPr id="1048697" name="文本框 2"/>
          <p:cNvSpPr txBox="1"/>
          <p:nvPr/>
        </p:nvSpPr>
        <p:spPr>
          <a:xfrm>
            <a:off x="191770" y="476885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题目七：校园运动场景多目标检测与行为跟踪分析系统（钱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刃老师出题）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698" name="文本框 1"/>
          <p:cNvSpPr txBox="1"/>
          <p:nvPr/>
        </p:nvSpPr>
        <p:spPr>
          <a:xfrm>
            <a:off x="264160" y="1772920"/>
            <a:ext cx="11464290" cy="327025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任务背景：</a:t>
            </a:r>
            <a:endParaRPr altLang="zh-CN" b="1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校园操场是学生运动的主要场所，需设计系统对运动场景中的人员、运动器材进行多目标检测与跟踪，并分析典型运动行为，辅助体育教学或运动安全监控。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核心任务</a:t>
            </a:r>
            <a:endParaRPr altLang="zh-CN" b="1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 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多目标检测：在操场视频中，同时检测两类目标：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人员：区分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运动中人员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静止人员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运动器材：检测常见器材（篮球、足球、羽毛球拍等），输出类别与边界框。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51" name=""/>
        <p:cNvGrpSpPr/>
        <p:nvPr/>
      </p:nvGrpSpPr>
      <p:grpSpPr>
        <a:xfrm/>
      </p:grpSpPr>
      <p:sp>
        <p:nvSpPr>
          <p:cNvPr id="1048699" name="文本框 1"/>
          <p:cNvSpPr txBox="1"/>
          <p:nvPr/>
        </p:nvSpPr>
        <p:spPr>
          <a:xfrm>
            <a:off x="335915" y="2277110"/>
            <a:ext cx="11493500" cy="16402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 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多目标跟踪：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对检测到的人员和器材进行同步跟踪，解决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遮挡（如多人重叠、器材被遮挡）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快速移动（如跑步、传球）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场景下的跟踪稳定性，保持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ID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一致性。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48700" name="文本框 4"/>
          <p:cNvSpPr txBox="1"/>
          <p:nvPr/>
        </p:nvSpPr>
        <p:spPr>
          <a:xfrm>
            <a:off x="191770" y="476885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七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：校园运动场景多目标检测与行为跟踪分析系统（钱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刃老师出题）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52" name=""/>
        <p:cNvGrpSpPr/>
        <p:nvPr/>
      </p:nvGrpSpPr>
      <p:grpSpPr>
        <a:xfrm/>
      </p:grpSpPr>
      <p:sp>
        <p:nvSpPr>
          <p:cNvPr id="1048701" name="文本框 2"/>
          <p:cNvSpPr txBox="1"/>
          <p:nvPr/>
        </p:nvSpPr>
        <p:spPr>
          <a:xfrm>
            <a:off x="191770" y="476885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七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：校园运动场景多目标检测与行为跟踪分析系统（钱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刃老师出题）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02" name="文本框 1"/>
          <p:cNvSpPr txBox="1"/>
          <p:nvPr/>
        </p:nvSpPr>
        <p:spPr>
          <a:xfrm>
            <a:off x="321945" y="2183130"/>
            <a:ext cx="11503660" cy="4422775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3.</a:t>
            </a:r>
            <a:r>
              <a:rPr altLang="en-US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 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行为分析：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基于跟踪轨迹与目标关联，识别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2-3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种典型运动行为，如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跑步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打篮球（人员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+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篮球关联）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踢足球（人员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+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足球关联）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，输出行为标签与持续时间。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安全预警：识别学生状态，是否受伤（可给学校医疗小组学生使用）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器材识别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使用频率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是否损坏（学生组织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如：学生会。管理器材设备）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学生查看场地人数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56" name=""/>
        <p:cNvGrpSpPr/>
        <p:nvPr/>
      </p:nvGrpSpPr>
      <p:grpSpPr>
        <a:xfrm/>
      </p:grpSpPr>
      <p:sp>
        <p:nvSpPr>
          <p:cNvPr id="1048708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：物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靶点相互作用智能预测与分析平台（欧阳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09" name="文本框 1"/>
          <p:cNvSpPr txBox="1"/>
          <p:nvPr/>
        </p:nvSpPr>
        <p:spPr>
          <a:xfrm>
            <a:off x="335915" y="1412875"/>
            <a:ext cx="11458575" cy="440372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一、项目背景与意义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药物研发是保障人类健康的关键领域，而药物与靶点（如蛋白质、基因等）的相互作用预测是新药发现的核心环节。传统实验方法存在周期长、成本高、效率低等问题，难以满足海量候选药物与潜在靶点的匹配需求。随着人工智能与生物信息学的融合，基于数据挖掘和统计建模的智能分析技术已成为加速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-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靶点相互作用预测的重要手段。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本项目要求开发一款集成化网站，通过整合生物数据处理、机器学习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/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深度学习建模、结果可视化等功能，实现对药物与靶点关系的高效预测与分析，为科研人员提供辅助决策工具，推动精准医疗与新药研发进程。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57" name=""/>
        <p:cNvGrpSpPr/>
        <p:nvPr/>
      </p:nvGrpSpPr>
      <p:grpSpPr>
        <a:xfrm/>
      </p:grpSpPr>
      <p:sp>
        <p:nvSpPr>
          <p:cNvPr id="1048710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：物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靶点相互作用智能预测与分析平台（欧阳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11" name="文本框 1"/>
          <p:cNvSpPr txBox="1"/>
          <p:nvPr/>
        </p:nvSpPr>
        <p:spPr>
          <a:xfrm>
            <a:off x="331470" y="1579245"/>
            <a:ext cx="11516995" cy="512762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二、核心目标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开发一个具备数据处理、模型构建、预测分析及可视化功能的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Web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平台，支持用户上传药物分子数据（如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SMILES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结构）和靶点生物数据（如蛋白质序列、基因序列），通过内置的人工智能算法预测两者的相互作用概率，并提供可解释的分析结果与可视化展示。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58" name=""/>
        <p:cNvGrpSpPr/>
        <p:nvPr/>
      </p:nvGrpSpPr>
      <p:grpSpPr>
        <a:xfrm/>
      </p:grpSpPr>
      <p:sp>
        <p:nvSpPr>
          <p:cNvPr id="1048712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：物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靶点相互作用智能预测与分析平台（欧阳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13" name="文本框 1"/>
          <p:cNvSpPr txBox="1"/>
          <p:nvPr/>
        </p:nvSpPr>
        <p:spPr>
          <a:xfrm>
            <a:off x="408305" y="1701165"/>
            <a:ext cx="11478895" cy="504126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三、功能与技术要求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平台需包含以下核心模块，要求功能完整、界面友好、算法高效：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数据集介绍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为便于开发与测试，可使用公开药物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-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靶点相互作用数据集：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DrugBank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和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HPRD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DrugBank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数据集：提供了药物及其与靶蛋白实验验证相互作用的全面存储库，是药物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靶标关联分析的关键资源。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</a:t>
            </a:r>
            <a:endParaRPr altLang="en-US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HPRD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数据集：提供了描述人类蛋白质间相互作用的实验验证数据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59" name=""/>
        <p:cNvGrpSpPr/>
        <p:nvPr/>
      </p:nvGrpSpPr>
      <p:grpSpPr>
        <a:xfrm/>
      </p:grpSpPr>
      <p:sp>
        <p:nvSpPr>
          <p:cNvPr id="1048714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：物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靶点相互作用智能预测与分析平台（欧阳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15" name="文本框 1"/>
          <p:cNvSpPr txBox="1"/>
          <p:nvPr/>
        </p:nvSpPr>
        <p:spPr>
          <a:xfrm>
            <a:off x="379095" y="1637030"/>
            <a:ext cx="11435715" cy="4604385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模型构建与训练模块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(1)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算法支持：自主开发人工智能的算法，可以运用经典机器学习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altLang="zh-CN" sz="3200" lang="en-US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深度学习模型，例如：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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传统机器学习：随机森林（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RF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）、支持向量机（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SVM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）、梯度提升树（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XGBoost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）。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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深度学习：神经网络（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NN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）、图神经网络（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GNN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GCN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GAT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，处理药物分子图结构）、注意力机制模型（如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Transformer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，处理序列数据）。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60" name=""/>
        <p:cNvGrpSpPr/>
        <p:nvPr/>
      </p:nvGrpSpPr>
      <p:grpSpPr>
        <a:xfrm/>
      </p:grpSpPr>
      <p:sp>
        <p:nvSpPr>
          <p:cNvPr id="1048716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：物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靶点相互作用智能预测与分析平台（欧阳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17" name="文本框 1"/>
          <p:cNvSpPr txBox="1"/>
          <p:nvPr/>
        </p:nvSpPr>
        <p:spPr>
          <a:xfrm>
            <a:off x="388620" y="1772920"/>
            <a:ext cx="11460480" cy="4379595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(2)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模型配置与训练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允许用户自定义模型超参数（如学习率、迭代次数、隐藏层维度），支持自动调参（如网格搜索、贝叶斯优化），实时展示训练过程（如损失曲线、准确率曲线）。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(3)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模型评估与保存：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训练完成后，自动输出模型性能指标（如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AUC-ROC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、准确率、精确率、召回率、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F1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分数），支持模型保存（如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.pth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.h5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格式）与加载复用。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61" name=""/>
        <p:cNvGrpSpPr/>
        <p:nvPr/>
      </p:nvGrpSpPr>
      <p:grpSpPr>
        <a:xfrm/>
      </p:grpSpPr>
      <p:sp>
        <p:nvSpPr>
          <p:cNvPr id="1048718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：物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靶点相互作用智能预测与分析平台（欧阳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19" name="文本框 3"/>
          <p:cNvSpPr txBox="1"/>
          <p:nvPr/>
        </p:nvSpPr>
        <p:spPr>
          <a:xfrm>
            <a:off x="340995" y="1412875"/>
            <a:ext cx="11541760" cy="5132070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预测与分析模块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(1)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相互作用预测：支持用户输入单个或批量药物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-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靶点对数据，调用训练好的模型预测相互作用概率（或分类结果：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相互作用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”/“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无相互作用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），输出预测结果表格（包含药物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ID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、靶点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ID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、预测概率、置信度等）。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(2)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结果解释性分析：对预测结果提供可解释性分析，例如：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特征重要性排序（如通过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SHAP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值、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LIME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工具展示影响预测的关键药物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/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靶点特征）。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-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靶点作用位点推测（结合靶点蛋白质结构数据，标注潜在结合残基）。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62" name=""/>
        <p:cNvGrpSpPr/>
        <p:nvPr/>
      </p:nvGrpSpPr>
      <p:grpSpPr>
        <a:xfrm/>
      </p:grpSpPr>
      <p:sp>
        <p:nvSpPr>
          <p:cNvPr id="1048720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：物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靶点相互作用智能预测与分析平台（欧阳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21" name="文本框 1"/>
          <p:cNvSpPr txBox="1"/>
          <p:nvPr/>
        </p:nvSpPr>
        <p:spPr>
          <a:xfrm>
            <a:off x="398780" y="1557020"/>
            <a:ext cx="11426190" cy="5041265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可视化展示模块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(1)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数据可视化：展示数据集特征分布（如分子描述符直方图、氨基酸组成饼图）、特征相关性热力图。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(2)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模型性能可视化：绘制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ROC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曲线、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PR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曲线、混淆矩阵热力图，直观对比不同模型的性能。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(3)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预测结果可视化：以热力图展示药物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-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靶点相互作用预测矩阵，以网络图展示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“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-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靶点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”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关联关系（节点大小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/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颜色反映预测概率）；若支持蛋白质结构数据，可集成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3D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可视化工具（如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PyMOL.js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）展示靶点蛋白与药物的结合模式。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63" name=""/>
        <p:cNvGrpSpPr/>
        <p:nvPr/>
      </p:nvGrpSpPr>
      <p:grpSpPr>
        <a:xfrm/>
      </p:grpSpPr>
      <p:sp>
        <p:nvSpPr>
          <p:cNvPr id="1048722" name="文本框 2"/>
          <p:cNvSpPr txBox="1"/>
          <p:nvPr/>
        </p:nvSpPr>
        <p:spPr>
          <a:xfrm>
            <a:off x="218440" y="189230"/>
            <a:ext cx="11973560" cy="700405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八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：物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- 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靶点相互作用智能预测与分析平台（欧阳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东老师出题）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23" name="文本框 1"/>
          <p:cNvSpPr txBox="1"/>
          <p:nvPr/>
        </p:nvSpPr>
        <p:spPr>
          <a:xfrm>
            <a:off x="551815" y="1628775"/>
            <a:ext cx="11076305" cy="4911090"/>
          </a:xfrm>
          <a:prstGeom prst="rect"/>
          <a:noFill/>
        </p:spPr>
        <p:txBody>
          <a:bodyPr rtlCol="0" wrap="square">
            <a:noAutofit/>
          </a:bodyPr>
          <a:p>
            <a:r>
              <a:rPr altLang="zh-CN" b="1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5. </a:t>
            </a:r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用户交互与系统架构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(1)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界面设计：采用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B/S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架构，前端界面需简洁易用，包含数据上传区、模型配置区、结果展示区，支持多终端适配（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PC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端为主）。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(2)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用户体验：操作流程清晰，提供引导提示（如数据格式说明、模型选择建议），支持结果下载（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CSV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、图片格式）。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(3)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系统性能：保证数据处理与模型预测的效率，批量预测时响应时间不超过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30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秒（针对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1000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对药物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-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靶点数据）。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67" name=""/>
        <p:cNvGrpSpPr/>
        <p:nvPr/>
      </p:nvGrpSpPr>
      <p:grpSpPr>
        <a:xfrm/>
      </p:grpSpPr>
      <p:sp>
        <p:nvSpPr>
          <p:cNvPr id="1048729" name="文本框 2"/>
          <p:cNvSpPr txBox="1"/>
          <p:nvPr/>
        </p:nvSpPr>
        <p:spPr>
          <a:xfrm>
            <a:off x="635" y="189230"/>
            <a:ext cx="12165330" cy="68072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题目九：学生组织移动考勤系统（郭文杰工程师出题）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30" name="文本框 1"/>
          <p:cNvSpPr txBox="1"/>
          <p:nvPr/>
        </p:nvSpPr>
        <p:spPr>
          <a:xfrm>
            <a:off x="551815" y="1628775"/>
            <a:ext cx="11076305" cy="491109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一、背景说明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某高校二级学院的学生组织需对学院各班级进行随机现场抽查考勤。每周会安排多次考勤任务，且每次仅抽查部分班级，地点为被考勤班级上课所在的教室。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目前人工考勤效率低、对接教务信息不便、考勤数据难以统计。希望通过信息化系统提升考勤效率和数据可信度。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在不要求学生安装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App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、不依赖额外硬件设备的前提下，仅通过手机与电脑完成考勤操作，且有效防止作弊。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68" name=""/>
        <p:cNvGrpSpPr/>
        <p:nvPr/>
      </p:nvGrpSpPr>
      <p:grpSpPr>
        <a:xfrm/>
      </p:grpSpPr>
      <p:sp>
        <p:nvSpPr>
          <p:cNvPr id="1048731" name="文本框 2"/>
          <p:cNvSpPr txBox="1"/>
          <p:nvPr/>
        </p:nvSpPr>
        <p:spPr>
          <a:xfrm>
            <a:off x="635" y="189230"/>
            <a:ext cx="12165330" cy="68072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题目九：学生组织移动考勤系统（郭文杰工程师出题）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32" name="文本框 1"/>
          <p:cNvSpPr txBox="1"/>
          <p:nvPr/>
        </p:nvSpPr>
        <p:spPr>
          <a:xfrm>
            <a:off x="551180" y="1485265"/>
            <a:ext cx="11076305" cy="491109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二、功能需求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基本功能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194304" name="表格 5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853440" y="3044190"/>
          <a:ext cx="10485120" cy="233172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58293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b="1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角色</a:t>
                      </a:r>
                      <a:endParaRPr b="1"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b="1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功能</a:t>
                      </a:r>
                      <a:endParaRPr b="1"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学生组织管理员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根据课表创建考勤任务、选择班级、导出考勤结果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现场考勤员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到达现场后启动签到并展示验证入口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293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学生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扫码验证出勤，无需</a:t>
                      </a:r>
                      <a:r>
                        <a:rPr altLang="en-US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 </a:t>
                      </a:r>
                      <a:r>
                        <a:rPr altLang="zh-CN" sz="3200" lang="en-US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App</a:t>
                      </a:r>
                      <a:endParaRPr altLang="zh-CN" sz="3200" lang="en-US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69" name=""/>
        <p:cNvGrpSpPr/>
        <p:nvPr/>
      </p:nvGrpSpPr>
      <p:grpSpPr>
        <a:xfrm/>
      </p:grpSpPr>
      <p:sp>
        <p:nvSpPr>
          <p:cNvPr id="1048733" name="文本框 2"/>
          <p:cNvSpPr txBox="1"/>
          <p:nvPr/>
        </p:nvSpPr>
        <p:spPr>
          <a:xfrm>
            <a:off x="635" y="189230"/>
            <a:ext cx="12165330" cy="68072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题目九：学生组织移动考勤系统（郭文杰工程师出题）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34" name="文本框 1"/>
          <p:cNvSpPr txBox="1"/>
          <p:nvPr/>
        </p:nvSpPr>
        <p:spPr>
          <a:xfrm>
            <a:off x="551815" y="1628775"/>
            <a:ext cx="11076305" cy="491109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关键业务流程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管理员预创建本次抽查任务、选定班级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现场考勤员到教室门口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→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启动签到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→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显示动态二维码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学生在短时间内扫码完成验证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4.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系统自动判定出勤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/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缺勤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/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疑似作弊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5.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现场考勤员针对因故缺勤的同学登记请假原因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6.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每周导出全学院的考勤结果予以公示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70" name=""/>
        <p:cNvGrpSpPr/>
        <p:nvPr/>
      </p:nvGrpSpPr>
      <p:grpSpPr>
        <a:xfrm/>
      </p:grpSpPr>
      <p:sp>
        <p:nvSpPr>
          <p:cNvPr id="1048735" name="文本框 2"/>
          <p:cNvSpPr txBox="1"/>
          <p:nvPr/>
        </p:nvSpPr>
        <p:spPr>
          <a:xfrm>
            <a:off x="635" y="189230"/>
            <a:ext cx="12165330" cy="68072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题目九：学生组织移动考勤系统（郭文杰工程师出题）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36" name="文本框 1"/>
          <p:cNvSpPr txBox="1"/>
          <p:nvPr/>
        </p:nvSpPr>
        <p:spPr>
          <a:xfrm>
            <a:off x="551815" y="981075"/>
            <a:ext cx="11076305" cy="491109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三、反作弊与安全要求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4194305" name="表格 3"/>
          <p:cNvGraphicFramePr>
            <a:graphicFrameLocks/>
          </p:cNvGraphicFramePr>
          <p:nvPr/>
        </p:nvGraphicFramePr>
        <p:xfrm>
          <a:off x="840105" y="1629410"/>
          <a:ext cx="10485120" cy="8382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b="1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维度</a:t>
                      </a:r>
                      <a:endParaRPr b="1"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b="1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要求</a:t>
                      </a:r>
                      <a:endParaRPr b="1"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签到二维码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动态刷新，</a:t>
                      </a:r>
                      <a:r>
                        <a:rPr b="1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二维码不直接代表凭证</a:t>
                      </a:r>
                      <a:endParaRPr b="1"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活体验证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直接调用摄像头录制自拍短视频，禁止相册上传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位置校验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地理围栏</a:t>
                      </a:r>
                      <a:r>
                        <a:rPr altLang="en-US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 </a:t>
                      </a:r>
                      <a:r>
                        <a:rPr altLang="zh-CN" sz="3200" lang="en-US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+ </a:t>
                      </a:r>
                      <a:r>
                        <a:rPr altLang="en-US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防模拟定位策略</a:t>
                      </a:r>
                      <a:endParaRPr altLang="en-US"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设备绑定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浏览器指纹</a:t>
                      </a:r>
                      <a:r>
                        <a:rPr altLang="zh-CN" sz="3200" lang="en-US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/</a:t>
                      </a:r>
                      <a:r>
                        <a:rPr altLang="en-US"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设备指纹</a:t>
                      </a:r>
                      <a:endParaRPr altLang="en-US"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异常检测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3200" lang="zh-CN">
                          <a:solidFill>
                            <a:schemeClr val="bg1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异地登录、延时提交、多人同设备识别</a:t>
                      </a:r>
                      <a:endParaRPr sz="3200" lang="zh-CN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71" name=""/>
        <p:cNvGrpSpPr/>
        <p:nvPr/>
      </p:nvGrpSpPr>
      <p:grpSpPr>
        <a:xfrm/>
      </p:grpSpPr>
      <p:sp>
        <p:nvSpPr>
          <p:cNvPr id="1048737" name="文本框 2"/>
          <p:cNvSpPr txBox="1"/>
          <p:nvPr/>
        </p:nvSpPr>
        <p:spPr>
          <a:xfrm>
            <a:off x="48260" y="189230"/>
            <a:ext cx="12165330" cy="68072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题目十：基于</a:t>
            </a:r>
            <a:r>
              <a:rPr altLang="zh-CN" b="1" sz="40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Graphviz</a:t>
            </a:r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的图论课程教学辅助软件设计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altLang="en-US" b="1" sz="40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（白金山老师出题）</a:t>
            </a:r>
            <a:endParaRPr altLang="en-US" b="1" sz="40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738" name="文本框 1"/>
          <p:cNvSpPr txBox="1"/>
          <p:nvPr/>
        </p:nvSpPr>
        <p:spPr>
          <a:xfrm>
            <a:off x="551180" y="2132965"/>
            <a:ext cx="11076305" cy="4911090"/>
          </a:xfrm>
          <a:prstGeom prst="rect"/>
          <a:noFill/>
        </p:spPr>
        <p:txBody>
          <a:bodyPr rtlCol="0" wrap="square">
            <a:noAutofit/>
          </a:bodyPr>
          <a:p>
            <a:r>
              <a:rPr altLang="en-US" b="1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一、背景说明</a:t>
            </a:r>
            <a:endParaRPr altLang="en-US" b="1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图论教学中抽象概念难理解、传统绘图工具操作繁琐，而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Graphviz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虽绘图高效但需代码基础，师生使用门槛高。本软件旨在融合</a:t>
            </a:r>
            <a:r>
              <a:rPr altLang="zh-CN" sz="3200" lang="en-US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Graphviz</a:t>
            </a:r>
            <a:r>
              <a:rPr altLang="en-US" sz="3200" lang="zh-CN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能力与教学场景，解决教学抽象化、操作低效化问题。</a:t>
            </a:r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altLang="en-US" sz="3200" lang="zh-CN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xmlns:r="http://schemas.openxmlformats.org/officeDocument/2006/relationships" r:embed="rId1"/>
          <a:stretch>
            <a:fillRect/>
          </a:stretch>
        </a:blipFill>
        <a:effectLst/>
      </p:bgPr>
    </p:bg>
    <p:spTree>
      <p:nvGrpSpPr>
        <p:cNvPr id="172" name=""/>
        <p:cNvGrpSpPr/>
        <p:nvPr/>
      </p:nvGrpSpPr>
      <p:grpSpPr>
        <a:xfrm/>
      </p:grpSpPr>
      <p:sp>
        <p:nvSpPr>
          <p:cNvPr id="1048739" name="文本框 15"/>
          <p:cNvSpPr txBox="1"/>
          <p:nvPr/>
        </p:nvSpPr>
        <p:spPr>
          <a:xfrm>
            <a:off x="767715" y="333375"/>
            <a:ext cx="1205865" cy="645160"/>
          </a:xfrm>
          <a:prstGeom prst="rect"/>
          <a:noFill/>
        </p:spPr>
        <p:txBody>
          <a:bodyPr anchor="t" rtlCol="0" wrap="square">
            <a:spAutoFit/>
            <a:scene3d>
              <a:camera prst="orthographicFront"/>
              <a:lightRig dir="t" rig="threePt"/>
            </a:scene3d>
          </a:bodyPr>
          <a:p>
            <a:r>
              <a:rPr altLang="en-US" sz="36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电设</a:t>
            </a:r>
            <a:endParaRPr altLang="en-US" sz="3600" lang="zh-CN">
              <a:solidFill>
                <a:schemeClr val="bg1">
                  <a:lumMod val="95000"/>
                </a:schemeClr>
              </a:solidFill>
              <a:effectLst>
                <a:outerShdw algn="ctr" blurRad="38100" dir="5400000" dist="25400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048740" name="文本框 16"/>
          <p:cNvSpPr txBox="1"/>
          <p:nvPr/>
        </p:nvSpPr>
        <p:spPr>
          <a:xfrm>
            <a:off x="3189605" y="333375"/>
            <a:ext cx="1205865" cy="645160"/>
          </a:xfrm>
          <a:prstGeom prst="rect"/>
          <a:noFill/>
        </p:spPr>
        <p:txBody>
          <a:bodyPr anchor="t" rtlCol="0" wrap="square">
            <a:spAutoFit/>
            <a:scene3d>
              <a:camera prst="orthographicFront"/>
              <a:lightRig dir="t" rig="threePt"/>
            </a:scene3d>
          </a:bodyPr>
          <a:p>
            <a:r>
              <a:rPr altLang="en-US" sz="36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软设</a:t>
            </a:r>
            <a:endParaRPr altLang="en-US" sz="3600" lang="zh-CN">
              <a:solidFill>
                <a:schemeClr val="bg1">
                  <a:lumMod val="95000"/>
                </a:schemeClr>
              </a:solidFill>
              <a:effectLst>
                <a:outerShdw algn="ctr" blurRad="38100" dir="5400000" dist="25400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048741" name="矩形 18"/>
          <p:cNvSpPr/>
          <p:nvPr/>
        </p:nvSpPr>
        <p:spPr>
          <a:xfrm>
            <a:off x="8616315" y="1701165"/>
            <a:ext cx="2937510" cy="645160"/>
          </a:xfrm>
          <a:prstGeom prst="rect"/>
          <a:noFill/>
          <a:ln>
            <a:noFill/>
          </a:ln>
        </p:spPr>
        <p:txBody>
          <a:bodyPr anchor="t" rtlCol="0" wrap="none">
            <a:spAutoFit/>
          </a:bodyPr>
          <a:p>
            <a:pPr algn="ctr"/>
            <a:r>
              <a:rPr altLang="en-US" b="1" sz="36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</a:rPr>
              <a:t>大创会公众号</a:t>
            </a:r>
            <a:endParaRPr altLang="en-US" b="1" sz="3600" lang="zh-CN">
              <a:solidFill>
                <a:schemeClr val="bg1">
                  <a:lumMod val="95000"/>
                </a:schemeClr>
              </a:solidFill>
              <a:effectLst>
                <a:outerShdw algn="ctr" blurRad="38100" dir="5400000" dist="25400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48742" name="矩形 20"/>
          <p:cNvSpPr/>
          <p:nvPr/>
        </p:nvSpPr>
        <p:spPr>
          <a:xfrm>
            <a:off x="3012123" y="6011545"/>
            <a:ext cx="7167880" cy="624840"/>
          </a:xfrm>
          <a:prstGeom prst="rect"/>
          <a:noFill/>
          <a:ln>
            <a:noFill/>
          </a:ln>
        </p:spPr>
        <p:txBody>
          <a:bodyPr anchor="t" rtlCol="0" wrap="none">
            <a:spAutoFit/>
            <a:scene3d>
              <a:camera prst="orthographicFront"/>
              <a:lightRig dir="t" rig="threePt"/>
            </a:scene3d>
          </a:bodyPr>
          <a:p>
            <a:pPr algn="ctr"/>
            <a:r>
              <a:rPr altLang="en-US" b="1" sz="36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</a:rPr>
              <a:t>官方邮箱：GDMU_dch@163.com</a:t>
            </a:r>
            <a:endParaRPr altLang="en-US" b="1" sz="3600" lang="zh-CN">
              <a:solidFill>
                <a:schemeClr val="bg1">
                  <a:lumMod val="95000"/>
                </a:schemeClr>
              </a:solidFill>
              <a:effectLst>
                <a:outerShdw algn="ctr" blurRad="38100" dir="5400000" dist="25400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097157" name="图片 1" descr="2827b6e6a6fb5bed3f6ed6f8da66f10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264160" y="1125220"/>
            <a:ext cx="2022475" cy="2187575"/>
          </a:xfrm>
          <a:prstGeom prst="rect"/>
        </p:spPr>
      </p:pic>
      <p:pic>
        <p:nvPicPr>
          <p:cNvPr id="2097158" name="图片 2" descr="e7fdb42b9558f64c27e8120681387fdf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2712085" y="1125220"/>
            <a:ext cx="1883410" cy="2135505"/>
          </a:xfrm>
          <a:prstGeom prst="rect"/>
        </p:spPr>
      </p:pic>
      <p:sp>
        <p:nvSpPr>
          <p:cNvPr id="1048743" name="文本框 3"/>
          <p:cNvSpPr txBox="1"/>
          <p:nvPr/>
        </p:nvSpPr>
        <p:spPr>
          <a:xfrm>
            <a:off x="5020945" y="405130"/>
            <a:ext cx="2565400" cy="856615"/>
          </a:xfrm>
          <a:prstGeom prst="rect"/>
          <a:noFill/>
        </p:spPr>
        <p:txBody>
          <a:bodyPr anchor="t" rtlCol="0" wrap="square">
            <a:noAutofit/>
            <a:scene3d>
              <a:camera prst="orthographicFront"/>
              <a:lightRig dir="t" rig="threePt"/>
            </a:scene3d>
          </a:bodyPr>
          <a:p>
            <a:r>
              <a:rPr altLang="en-US" sz="28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宣讲会</a:t>
            </a:r>
            <a:r>
              <a:rPr altLang="en-US" sz="28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观众</a:t>
            </a:r>
            <a:r>
              <a:rPr altLang="en-US" sz="28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群</a:t>
            </a:r>
            <a:endParaRPr altLang="en-US" sz="2800" lang="zh-CN">
              <a:solidFill>
                <a:schemeClr val="bg1">
                  <a:lumMod val="95000"/>
                </a:schemeClr>
              </a:solidFill>
              <a:effectLst>
                <a:outerShdw algn="ctr" blurRad="38100" dir="5400000" dist="25400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2097159" name="图片 4" descr="ee82eba5d47d382dcc1920f7894a1d83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5231765" y="1076960"/>
            <a:ext cx="2027555" cy="2296795"/>
          </a:xfrm>
          <a:prstGeom prst="rect"/>
        </p:spPr>
      </p:pic>
      <p:pic>
        <p:nvPicPr>
          <p:cNvPr id="2097160" name="图片 5" descr="11e4db5f8e3c307263a0a4f43a365a4d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8759825" y="2438400"/>
            <a:ext cx="2418715" cy="2410460"/>
          </a:xfrm>
          <a:prstGeom prst="rect"/>
        </p:spPr>
      </p:pic>
      <p:sp>
        <p:nvSpPr>
          <p:cNvPr id="1048744" name="文本框 6"/>
          <p:cNvSpPr txBox="1"/>
          <p:nvPr>
            <p:custDataLst>
              <p:tags r:id="rId8"/>
            </p:custDataLst>
          </p:nvPr>
        </p:nvSpPr>
        <p:spPr>
          <a:xfrm>
            <a:off x="1271905" y="3459480"/>
            <a:ext cx="2359025" cy="635635"/>
          </a:xfrm>
          <a:prstGeom prst="rect"/>
          <a:noFill/>
        </p:spPr>
        <p:txBody>
          <a:bodyPr anchor="t" rtlCol="0" wrap="square">
            <a:noAutofit/>
            <a:scene3d>
              <a:camera prst="orthographicFront"/>
              <a:lightRig dir="t" rig="threePt"/>
            </a:scene3d>
          </a:bodyPr>
          <a:p>
            <a:r>
              <a:rPr altLang="en-US" sz="28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软设报名表</a:t>
            </a:r>
            <a:endParaRPr altLang="en-US" sz="2800" lang="zh-CN">
              <a:solidFill>
                <a:schemeClr val="bg1">
                  <a:lumMod val="95000"/>
                </a:schemeClr>
              </a:solidFill>
              <a:effectLst>
                <a:outerShdw algn="ctr" blurRad="38100" dir="5400000" dist="25400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048745" name="文本框 7"/>
          <p:cNvSpPr txBox="1"/>
          <p:nvPr>
            <p:custDataLst>
              <p:tags r:id="rId9"/>
            </p:custDataLst>
          </p:nvPr>
        </p:nvSpPr>
        <p:spPr>
          <a:xfrm>
            <a:off x="3288030" y="3456940"/>
            <a:ext cx="2359025" cy="635635"/>
          </a:xfrm>
          <a:prstGeom prst="rect"/>
          <a:noFill/>
        </p:spPr>
        <p:txBody>
          <a:bodyPr anchor="t" rtlCol="0" wrap="square">
            <a:noAutofit/>
            <a:scene3d>
              <a:camera prst="orthographicFront"/>
              <a:lightRig dir="t" rig="threePt"/>
            </a:scene3d>
          </a:bodyPr>
          <a:p>
            <a:r>
              <a:rPr altLang="en-US" sz="2800" lang="zh-CN">
                <a:solidFill>
                  <a:schemeClr val="bg1">
                    <a:lumMod val="95000"/>
                  </a:schemeClr>
                </a:solidFill>
                <a:effectLst>
                  <a:outerShdw algn="ctr" blurRad="38100" dir="5400000" dist="25400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电设报名表</a:t>
            </a:r>
            <a:endParaRPr altLang="en-US" sz="2800" lang="zh-CN">
              <a:solidFill>
                <a:schemeClr val="bg1">
                  <a:lumMod val="95000"/>
                </a:schemeClr>
              </a:solidFill>
              <a:effectLst>
                <a:outerShdw algn="ctr" blurRad="38100" dir="5400000" dist="25400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pic>
        <p:nvPicPr>
          <p:cNvPr id="2097161" name="图片 8" descr="c881985fd7ed015bc95da939ecc20646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1477645" y="4149090"/>
            <a:ext cx="3543300" cy="1884045"/>
          </a:xfrm>
          <a:prstGeom prst="rect"/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7786e1d4-cf49-4392-ae8b-90a727d19926}"/>
</p:tagLst>
</file>

<file path=ppt/tags/tag5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WM_BEAUTIFY_SHAPE_IDENTITY" val="{7786e1d4-cf49-4392-ae8b-90a727d19926}"/>
</p:tagLst>
</file>

<file path=ppt/tags/tag12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9.xml><?xml version="1.0" encoding="utf-8"?>
<p:tagLst xmlns:p="http://schemas.openxmlformats.org/presentationml/2006/main">
  <p:tag name="TABLE_ENDDRAG_ORIGIN_RECT" val="825*183"/>
  <p:tag name="TABLE_ENDDRAG_RECT" val="67*239*825*183"/>
</p:tagLst>
</file>

<file path=ppt/tags/tag140.xml><?xml version="1.0" encoding="utf-8"?>
<p:tagLst xmlns:p="http://schemas.openxmlformats.org/presentationml/2006/main">
  <p:tag name="KSO_WM_DIAGRAM_VIRTUALLY_FRAME" val="{&quot;height&quot;:237.1,&quot;left&quot;:20.8,&quot;top&quot;:88.6,&quot;width&quot;:423.85}"/>
</p:tagLst>
</file>

<file path=ppt/tags/tag141.xml><?xml version="1.0" encoding="utf-8"?>
<p:tagLst xmlns:p="http://schemas.openxmlformats.org/presentationml/2006/main">
  <p:tag name="KSO_WM_DIAGRAM_VIRTUALLY_FRAME" val="{&quot;height&quot;:237.1,&quot;left&quot;:20.8,&quot;top&quot;:88.6,&quot;width&quot;:423.85}"/>
</p:tagLst>
</file>

<file path=ppt/tags/tag142.xml><?xml version="1.0" encoding="utf-8"?>
<p:tagLst xmlns:p="http://schemas.openxmlformats.org/presentationml/2006/main">
  <p:tag name="KSO_WM_DIAGRAM_VIRTUALLY_FRAME" val="{&quot;height&quot;:237.1,&quot;left&quot;:20.8,&quot;top&quot;:88.6,&quot;width&quot;:423.85}"/>
</p:tagLst>
</file>

<file path=ppt/tags/tag143.xml><?xml version="1.0" encoding="utf-8"?>
<p:tagLst xmlns:p="http://schemas.openxmlformats.org/presentationml/2006/main">
  <p:tag name="KSO_WM_DIAGRAM_VIRTUALLY_FRAME" val="{&quot;height&quot;:237.1,&quot;left&quot;:20.8,&quot;top&quot;:88.6,&quot;width&quot;:423.85}"/>
</p:tagLst>
</file>

<file path=ppt/theme/theme1.xml><?xml version="1.0" encoding="utf-8"?>
<a:theme xmlns:a="http://schemas.openxmlformats.org/drawingml/2006/main" name="WPS">
  <a:themeElements>
    <a:clrScheme name="WPS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algn="ctr" blurRad="101600" dir="5400000" dist="50800" rotWithShape="0">
              <a:schemeClr val="phClr">
                <a:alpha val="60000"/>
              </a:schemeClr>
            </a:outerShdw>
          </a:effectLst>
        </a:effectStyle>
        <a:effectStyle>
          <a:effectLst>
            <a:reflection algn="bl" dir="5400000" dist="25400" endA="300" endPos="40000" rotWithShape="0" stA="50000" sy="-100000"/>
          </a:effectLst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WPS">
  <a:themeElements>
    <a:clrScheme name="WPS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algn="ctr" blurRad="101600" dir="5400000" dist="50800" rotWithShape="0">
              <a:schemeClr val="phClr">
                <a:alpha val="60000"/>
              </a:schemeClr>
            </a:outerShdw>
          </a:effectLst>
        </a:effectStyle>
        <a:effectStyle>
          <a:effectLst>
            <a:reflection algn="bl" dir="5400000" dist="25400" endA="300" endPos="40000" rotWithShape="0" stA="50000" sy="-100000"/>
          </a:effectLst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空白演示</dc:title>
  <dc:creator>HEY2-W09</dc:creator>
  <cp:lastModifiedBy>美合日阿依·阿卜杜喀迪尔</cp:lastModifiedBy>
  <dcterms:created xsi:type="dcterms:W3CDTF">2025-10-30T18:45:00Z</dcterms:created>
  <dcterms:modified xsi:type="dcterms:W3CDTF">2025-10-31T14:16:26Z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2052-12.1.0.22089</vt:lpwstr>
  </property>
  <property fmtid="{D5CDD505-2E9C-101B-9397-08002B2CF9AE}" pid="3" name="ICV">
    <vt:lpwstr>38757744FCE04441B6B2CD427112BCA8_12</vt:lpwstr>
  </property>
</Properties>
</file>